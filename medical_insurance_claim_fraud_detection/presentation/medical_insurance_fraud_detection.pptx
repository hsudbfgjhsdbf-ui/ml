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Medical Insurance Claim Fraud Detection</a:t>
            </a:r>
            <a:br/>
            <a:r>
              <a:t>AI-Driven Claim Verification &amp; Explainable Fraud Detection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IIIT Dharwad | B.Tech Data Science &amp; AI</a:t>
            </a:r>
            <a:br/>
            <a:r>
              <a:t>23BDS011 B Varshith | 23BDS033 M Jagadeshwar | 23BDS024 J Ganesh</a:t>
            </a:r>
            <a:br/>
            <a:r>
              <a:t>2026-08-06</a:t>
            </a:r>
            <a:br/>
            <a:br/>
            <a:r>
              <a:t>Decision-support prototype — Human review mandatory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Team Members and Institution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23BDS011 — B Varshith — B.Tech Data Science &amp; AI, IIIT Dharwad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23BDS033 — M Jagadeshwar — B.Tech Data Science &amp; AI, IIIT Dharwad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23BDS024 — J Ganesh — B.Tech Data Science &amp; AI, IIIT Dharwad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Institution: Indian Institute of Information Technology Dharwad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Project Type: Academic end-to-end fraud detection prototype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Disclaimer: Not autonomous legal/medical decision-maker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Medical insurance fraud: upcoding, unbundling, duplicate billing, fake documents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Impacts: financial losses, premium increases, patient harm, provider burden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Manual verification slow, error-prone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Need: AI-driven verification with explainability and human-in-loop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Prediction unit: claim-level (each row = one claim)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Target: ClaimLegitimacy — Legitimate (4230) vs Fraud (270) — 6% fraud rate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Challenges: imbalanced, high-cardinality categorical, privacy, bias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Motivation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Healthcare fraud &gt;$300B annually in US (CMS estimate)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Reduces funds for legitimate care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Delays legitimate claims due to manual checks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AI can: prioritize suspicious claims, validate docs via OCR, retrieve policy rules, provide auditable explanations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Must be responsible: human reviewer remains involved, especially for REJECT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Metrics: PR-AUC primary, not accuracy; conservative manual review zone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Collect claimant, policy, incident, supporting-document information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Detect potentially fraudulent medical insurance claims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Extract info from bills, prescriptions, discharge summaries via OCR + optional VLM APIs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Validate against policy rules, historical claims, medical info, fraud indicators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5. Experiment with classical ML, deep learning, anomaly detection, document intelligence, agentic AI, RAG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6. Benchmark using appropriate evaluation metrics (PR-AUC, ROC-AUC, F1, F2, MCC, etc)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7. Produce transparent, human-readable explanations for APPROVE / MANUAL REVIEW / REJECT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8. Ensure privacy: synthetic fixtures, no real PHI externally by default, env-controlled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Scope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Scope: Academic prototype, 4500 rows, claim-level, CPU, offline default, synthetic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 Scope: 6 approaches, evaluation, visualizations, docs, presentation, report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Assumptions: IDs synthetic UUIDs, fraud rate 6% filtered, policy rules illustrative not legal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Out-of-Scope: Fully autonomous rejection, legal/medical final determination, real PHI, FHIR integration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Deliverables: 6 approach files, common utilities, data card, evaluation tables, images, relations, docs, pptx, report PDF, API contract, tests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Runs without paid APIs; OCR/VLM/LLM optional with local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Proposed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Claim Input (JSON + docs) -&gt; Document Intelligence (OCR/VLM + validation)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Preprocessing: date engineering, scaling, encoding, imputation, SMOTE optional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ML Layer: Traditional ML + Deep Learning + Anomaly Detection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Policy &amp; RAG: Retrieve policy rules, exclusion, fraud indicators, guidelines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Agentic Reasoning: 7 agents (Doc Verify, Policy Match, Consistency, Historical/Anomaly, Evidence Retrieval, Decision Synthesis, Explanation)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Hybrid Synthesis: weighted fusion + conservative thresholds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Explainability: feature importance, SHAP, evidence citations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Output: structured result with decision + disclaimer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Dataset Source and Data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Dataset: Health Insurance Fraud Claims.xlsx — 4500 rows, 19 cols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Columns: ClaimID, PatientID, ProviderID, ClaimAmount, ClaimDate, DiagnosisCode, ProcedureCode, PatientAge, Gender, Specialty, Status, Income, Marital, Employment, Location, Type, SubmissionMethod, Cluster, ClaimLegitimacy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Target: Legitimate 4230 (94%), Fraud 270 (6%)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Missing: 0 (but pipeline includes imputation)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Prediction unit: claim-level (explicitly documented, not provider-level)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Source: local provided + CMS/Kaggle similar (see data_card.md)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Best model from eval: DecisionTree PR-AUC 1.0 threshold 0.95</a:t>
            </a:r>
          </a:p>
        </p:txBody>
      </p:sp>
      <p:pic>
        <p:nvPicPr>
          <p:cNvPr id="4" name="Picture 3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Data Schema and Entity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Entities: Patient, Policyholder, Policy, Provider, Claim, Diagnosis, Procedure, Document, Fraud Label, Review Decision, Historical Claim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Relationships: Patient 1-many Claims, Provider 1-many Claims, Policy 1-many Claims, Claim 1-many Documents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Actual dataset: Claim, simplified Patient, Provider, DiagnosisCode, ProcedureCode, Bill amount/date, Fraud label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Missing in dataset but proposed for production: Policy table, Document table (we add synthetic JSON fixtures), Provider history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Feature relationships: see feature_relationships.csv, correlation_analysis.md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 lineage: raw Excel -&gt; processed CSV -&gt; train/val/test -&gt; models -&gt; eval</a:t>
            </a:r>
          </a:p>
        </p:txBody>
      </p:sp>
      <p:pic>
        <p:nvPicPr>
          <p:cNvPr id="4" name="Picture 3" descr="entity_relationshi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Data Preprocessing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Target mapping: Legitimate 0, Fraud 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Date engineering: ClaimDate -&gt; year, month, day, dayofweek, quarter, ordinal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Numerical: median impute + StandardScaler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Categorical: most_frequent + OneHotEncoder(handle_unknown ignore) -&gt; 8521 features (high cardinality Diagnosis/Procedure/Location)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Drop IDs: ClaimID, PatientID, ProviderID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Pipeline learned only on train, no leakage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Imbalance: ratio 0.063, class_weight balanced, SMOTE optional inside folds only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Outlier: IQR analysis, 0 outliers for amount/age/income (synthetic)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Leakage: ClaimStatus flagged heuristic post-decision, documented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Split: stratified 2925 train, 675 val, 900 test, seed 42</a:t>
            </a:r>
          </a:p>
        </p:txBody>
      </p:sp>
      <p:pic>
        <p:nvPicPr>
          <p:cNvPr id="4" name="Picture 3" descr="claim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Traditional Machine-Learning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Benchmark many classifiers (see model_comparison.csv):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DummyClassifier baseline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LogisticRegression, LinearSVM, Calibrated LinearSVM, KNN, GaussianNB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DecisionTree, RandomForest, ExtraTrees, GradientBoosting, HistGradientBoosting, AdaBoost, SVM RBF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XGBoost/LightGBM/CatBoost optional (skipped if missing dep)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VotingTop3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CV 5, scoring PR-AUC, GridSearch limited grid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Calibration isotonic attempted, fallback if fails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Threshold optimize F2 on val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Results:                   model  val_pr_auc  val_roc_auc    val_f1  val_recall  val_precision  test_pr_auc  test_roc_auc    fit_time                                                               notes</a:t>
            </a:r>
            <a:br/>
            <a:r>
              <a:t>3          RandomForest    1.000000     1.000000  0.769231       0.625       1.000000     0.997268      0.999814   23.883551                                                                 NaN</a:t>
            </a:r>
            <a:br/>
            <a:r>
              <a:t>2          DecisionTree    1.000000     1.000000  1.000000       1.000       1.000000     0.981818      0.999409    5.800621                                                                 NaN</a:t>
            </a:r>
            <a:br/>
            <a:r>
              <a:t>4  HistGradientBoosting    1.000000     1.000000  1.000000       1.000       1.000000     1.000000      1.000000  196.157729                                                                 NaN</a:t>
            </a:r>
            <a:br/>
            <a:r>
              <a:t>5            VotingTop3    1.000000     1.000000  1.000000       1.000       1.000000     1.000000      1.000000    0.000000  Voting of ['DecisionTree', 'RandomForest', 'HistGradientBoosting']</a:t>
            </a:r>
            <a:br/>
            <a:r>
              <a:t>1    LogisticRegression    0.947041     0.996535  0.857143       0.975       0.764706     0.943132      0.994528    8.831237                                                                 NaN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Best: DecisionTree threshold 0.95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Feature importance: PatientIncome, ClaimAmount dominant (synthetic separable)</a:t>
            </a:r>
          </a:p>
        </p:txBody>
      </p:sp>
      <p:pic>
        <p:nvPicPr>
          <p:cNvPr id="4" name="Picture 3" descr="model_comparison_pr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Deep-Learning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Framework: sklearn_mlp_fallback (torch not available fallback)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Architecture: MLP hidden [128,64,32], dropout 0.3, ReLU, Adam lr 0.001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Batch 64, epochs 100, early stopping patience 10, ReduceLROnPlateau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Class-weighted loss / focal loss concept, SMOTE resampled train 2925-&gt;5498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CPU compatible, checkpoint saving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Results: Val PR-AUC 0.8728729314454975, Test PR-AUC 0.9026157321644857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Observation: DL does NOT outperform tree models on tabular limited data (4500 rows, 6% fraud)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Trees handle categorical splits better, less data hunger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Note documented: don't assume NN superior</a:t>
            </a:r>
          </a:p>
        </p:txBody>
      </p:sp>
      <p:pic>
        <p:nvPicPr>
          <p:cNvPr id="4" name="Picture 3" descr="dl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Anomaly-Detection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Methods: IsolationForest, LOF, OneClassSVM, EllipticEnvelope (failed memory), Autoencoder optional, Ensemble avg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Train only non-fraud where appropriate (3384 legit)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Contamination 0.06 based on fraud rate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Distinction: anomaly score (deviation) vs fraud prob (calibrated) vs fraud label (ground truth)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Results:                 model    pr_auc   roc_auc  prec@10  prec@50  prec@100  prec@200    rec@10    rec@50   rec@100   rec@200</a:t>
            </a:r>
            <a:br/>
            <a:r>
              <a:t>0     IsolationForest  0.071780  0.487238      0.2     0.06      0.03      0.05  0.037037  0.055556  0.055556  0.185185</a:t>
            </a:r>
            <a:br/>
            <a:r>
              <a:t>1                 LOF  0.146853  0.737457      0.2     0.16      0.17      0.14  0.037037  0.148148  0.314815  0.518519</a:t>
            </a:r>
            <a:br/>
            <a:r>
              <a:t>2         OneClassSVM  0.122815  0.679757      0.1     0.18      0.17      0.12  0.018519  0.166667  0.314815  0.444444</a:t>
            </a:r>
            <a:br/>
            <a:r>
              <a:t>3  EnsembleAnomalyAvg  0.129360  0.656203      0.2     0.16      0.12      0.10  0.037037  0.148148  0.222222  0.370370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LOF best: PR-AUC 0.147 ROC 0.737 Prec@10 0.2 Recall@200 0.51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Precision@k, Recall@k, ranking evaluation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Visualization: anomaly_score_distribution.png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Limitations: high FP, cannot distinguish rare legit vs fraud without labels, needs calibration + human review</a:t>
            </a:r>
          </a:p>
        </p:txBody>
      </p:sp>
      <p:pic>
        <p:nvPicPr>
          <p:cNvPr id="4" name="Picture 3" descr="anomaly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OCR and Document-Intelligence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Supported docs: medical bills, prescriptions, discharge summaries, investigation reports, ID/policy docs, scanned/image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OCR: Tesseract, EasyOCR, PaddleOCR optional, fallback reads synthetic JSON fixtures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VLM API interface optional, env-controlled, no hard-coded keys, no real PHI by default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Pipeline: OCR extraction -&gt; type identification (keywords+structured) -&gt; field extraction (dates, amounts, provider, patient ID redacted, diagnosis, procedure, policy, claim numbers) -&gt; validation (duplicate hash, bill total vs claimed $5 tol, date consistency, provider, policyholder, missing docs)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Output JSON: extracted fields, confidences, validation errors, risk indicators LOW/MEDIUM/HIGH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Sample: bill total mismatch detected intentionally in synthetic_bill_mismatch.json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Privacy: PII redacted, ENABLE_EXTERNAL_API_CALLS false default</a:t>
            </a:r>
          </a:p>
        </p:txBody>
      </p:sp>
      <p:pic>
        <p:nvPicPr>
          <p:cNvPr id="4" name="Picture 3" descr="document_valid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Agentic AI and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Agents: Document Verification, Policy Rule Matching, Claim Consistency, Historical Pattern/Anomaly, Evidence Retrieval, Decision Synthesis, Explanation Generation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RAG: ingest policy_rules.txt, exclusion_clauses.txt, fraud_indicators.txt, coverage_rules.txt, claim_guidelines.txt from data/sample/knowledge_base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Chunking 500 overlap 50, TFIDF fallback or sentence-transformers if available, local JSON vector store, top_k 5 similarity search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Retrieved evidence with source refs and scores, e.g., 'Pre-auth required &gt;$10000'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Structured prompts, JSON outputs, confidence, policy rule refs, human-review recommendation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Optional LLM API, deterministic fallback, grounded explanations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Auditable summary: observed evidence, applied rule, risk signal, model result, recommended action, source ref — no hidden chain-of-thought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Hybrid End-to-End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Combine: best traditional ML (DecisionTree/RF) + DL where useful + anomaly scores + document validation + policy/RAG + explainability + human-review rules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Weights: ML 0.5, DL 0.2, Anomaly 0.15, Document 0.15 (config.yaml)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Thresholds: approve_max 0.3, review 0.3-0.7, reject_min 0.7, conservative manual review zone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Outcomes: APPROVE, FLAG_FOR_MANUAL_REVIEW, REJECT_OR_ESCALATE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Output JSON: claim_id, model_version, fraud_prob, fraud_pred, anomaly_score, doc_status, policy_status, risk_category, decision, key risks, positive evidence, missing/inconsistent, explanation, evidence refs, timestamp, disclaimer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Example explanation: 'Flagged for manual review because amount substantially higher than peer pattern, bill total does not match claimed amount, inconsistent treatment date. Requires human review.'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Sample result: evaluation/hybrid_sample_result.json + api/sample_response.json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Evaluation Metrics and Experimental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Protocol: same for comparable supervised, anomaly not directly comparable labeled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Splits: train 2925, val 675, test 900 stratified seed 42, untouched test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Metrics: Accuracy, Precision, Recall, F1, F2 (recall prioritized), ROC-AUC, PR-AUC primary, Balanced Accuracy, MCC, Specificity, Sensitivity, Confusion, Brier, Calibration, Prec@k, Rec@k, FPR, FNR, cost-sensitive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Primary NOT accuracy alone, use PR-AUC / fraud recall at acceptable precision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Threshold analysis instead of 0.5 default, optimize F2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Calibration isotonic attempted, Brier score, calibration curve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Runtime comparison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If not executed: NOT_EXECUTED with reason, no invented numbers</a:t>
            </a:r>
          </a:p>
        </p:txBody>
      </p:sp>
      <p:pic>
        <p:nvPicPr>
          <p:cNvPr id="4" name="Picture 3" descr="threshol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Benchmark Results and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Model comparison: best DecisionTree Val PR-AUC 1.0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Traditional: DecisionTree/RF/HGB test PR-AUC 0.98-1.0 (synthetic separable, income+amount dominant)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DL: test PR-AUC 0.9026157321644857 — underperforms trees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Anomaly: LOF best ROC 0.737 PR 0.147 — high FP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Document: bill total mismatch detection works (HIGH risk when mismatch)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Hybrid: sample FLAG_FOR_MANUAL_REVIEW due to doc FAILED even when ML prob 0.0 — conservative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Confusion matrix: TP 54 FP 1 FN 0 TN 845 @ thr 0.95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Feature importance: PatientIncome, ClaimAmount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Presentation and report use consistent results from evaluation/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Explainability, Risk Controls, and Human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Feature importance: feature_importance.png, SHAP attempted (not installed)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Human explanation: key features, doc errors, policy violations, anomaly indicators, missing evidence, grounded, not vague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Risk controls: weights, thresholds, conservative review zone, doc FAILED =&gt; manual review, anomaly top_k =&gt; review, high amount =&gt; pre-auth check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Model cards: intended use decision-support, out-of-scope autonomous, training/eval data, metrics, limitations, bias, threshold, failure modes, version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Human review mandatory for REJECT_OR_ESCALATE, appeal mechanism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Disclaimer in every output: not final legal/insurance determination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Distinguish: confirmed label vs prediction vs anomaly vs rule violation vs missing evidence vs human decision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Limitations, Future Work, Conclusion,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Limitations: synthetic 4500 modest, no free-text notes, no real doc images, high-card OHE memory heavy (7GB covariance fail), ClaimStatus potential leakage, near-perfect ML not realistic, anomaly low PR, DL underperforms, OCR fallback, RAG TFIDF less semantic, no graph collusion, no FHIR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Future: larger CMS data, time/group split, embeddings for codes, graph features provider-patient network, fairness audit, calibration cost-sensitive, encrypted secure API, Next.js frontend reviewer workflow, monitoring drift retraining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Conclusion: Built complete reproducible end-to-end academic prototype with 6 approaches, eval, visuals, docs, presentation, report, runnable without paid APIs, responsible disclaimer, human-in-loop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References: CMS public files, Kaggle healthcare fraud, sklearn, imbalanced-learn, SHAP, RAG Lewis et al., Model Cards Mitchell et al., EU Trustworthy AI, see documentation/references.md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Commands: pip install -r requirements.txt; python approaches/01_traditional_ml.py; ... ; python visualization_generator.py; python presentation/generate_presentation.py; python report/generate_report.py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