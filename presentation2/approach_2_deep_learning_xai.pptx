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4241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"/>
              </a:rPr>
              <a:t>Medical Insurance Claim
Fraud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06040"/>
            <a:ext cx="10424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E9C46A"/>
                </a:solidFill>
                <a:latin typeface="Aptos"/>
              </a:rPr>
              <a:t>Approach 2 • Deep Learning with Explainable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183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F0F4F8"/>
                </a:solidFill>
                <a:latin typeface="Aptos"/>
              </a:rPr>
              <a:t>B Varshith • M Jagadeshwar • J Ganesh
IIIT Dharwad • Department of Data Science and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166360"/>
            <a:ext cx="9418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Faculty Adviser: Prof. Ramesh Athe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Three-approach project arc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04672"/>
            <a:ext cx="9144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0972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486581"/>
                </a:solidFill>
                <a:latin typeface="Aptos"/>
              </a:rPr>
              <a:t>A common evidence spine makes comparisons defensible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486581"/>
                </a:solidFill>
                <a:latin typeface="Aptos"/>
              </a:rPr>
              <a:t>IIIT Dharwad • Approach 2 • Prof. Ramesh Athe • run_20260807_155540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Approach 1: classical tabular baseline with interpretable benchmarking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Approach 2: learned tabular representations plus XAI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Approach 3: document-grounded multi-agent reasoning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Approach 2 reuses the frozen Approach 1 split fingerprint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No approach may move the test set or redefine Fraud=1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Why deep learning for tabular claims?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04672"/>
            <a:ext cx="9144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0972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486581"/>
                </a:solidFill>
                <a:latin typeface="Aptos"/>
              </a:rPr>
              <a:t>Hypotheses registered before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486581"/>
                </a:solidFill>
                <a:latin typeface="Aptos"/>
              </a:rPr>
              <a:t>IIIT Dharwad • Approach 2 • Prof. Ramesh Athe • run_20260807_155540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H1: nonlinear interactions may be learned beyond manual ratios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H2: attention can expose instance-wise feature usage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H3: reconstruction error can add an anomaly signal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H4: token interactions may complement tree baselines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Risks: overfitting, tuning hunger, instability, and opaque explanations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Comparability spine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04672"/>
            <a:ext cx="9144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0972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486581"/>
                </a:solidFill>
                <a:latin typeface="Aptos"/>
              </a:rPr>
              <a:t>Same data and metrics, new model families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486581"/>
                </a:solidFill>
                <a:latin typeface="Aptos"/>
              </a:rPr>
              <a:t>IIIT Dharwad • Approach 2 • Prof. Ramesh Athe • run_20260807_155540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Rows: same supplied workbook and 70/15/15 membership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Features: same train-fitted imputer, encoder, and scaler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Labels: Fraud=1 and Legitimate=0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Metrics: F2, PR-AUC, ROC-AUC, MCC, calibration and fairness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Test evaluation follows validation selection and XAI asset checks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Five deep architectures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04672"/>
            <a:ext cx="9144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0972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486581"/>
                </a:solidFill>
                <a:latin typeface="Aptos"/>
              </a:rPr>
              <a:t>Dense, attention, convolution, anomaly, transformer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486581"/>
                </a:solidFill>
                <a:latin typeface="Aptos"/>
              </a:rPr>
              <a:t>IIIT Dharwad • Approach 2 • Prof. Ramesh Athe • run_20260807_155540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MLP: batch-normalized feed-forward reference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TabNet-style: sequential soft feature masks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1D CNN: local patterns over frozen feature order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Autoencoder hybrid: reconstruction error plus supervised head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Feature-token transformer: self-attention across feature tokens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Input contract and tensor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04672"/>
            <a:ext cx="9144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0972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486581"/>
                </a:solidFill>
                <a:latin typeface="Aptos"/>
              </a:rPr>
              <a:t>The frozen matrix is the first-class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486581"/>
                </a:solidFill>
                <a:latin typeface="Aptos"/>
              </a:rPr>
              <a:t>IIIT Dharwad • Approach 2 • Prof. Ramesh Athe • run_20260807_155540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417320" cy="9144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23160"/>
            <a:ext cx="1325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XLSX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2286000"/>
            <a:ext cx="1417320" cy="9144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2423160"/>
            <a:ext cx="1325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Train-only
transformer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286000"/>
            <a:ext cx="1417320" cy="91440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423160"/>
            <a:ext cx="1325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Float32
B × 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286000"/>
            <a:ext cx="1417320" cy="91440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2423160"/>
            <a:ext cx="1325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Architecture
forward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2286000"/>
            <a:ext cx="1417320" cy="91440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2423160"/>
            <a:ext cx="1325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Sigmoid
probability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2286000"/>
            <a:ext cx="1417320" cy="91440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29800" y="2423160"/>
            <a:ext cx="1325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XAI +
triage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10241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102A43"/>
                </a:solidFill>
                <a:latin typeface="Aptos"/>
              </a:rPr>
              <a:t>The model sees transformed features, not raw identifiers. Zero represents the training mean in the scaled view and supports uniform occlusion explanations.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MLP and TabNet-style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04672"/>
            <a:ext cx="9144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0972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486581"/>
                </a:solidFill>
                <a:latin typeface="Aptos"/>
              </a:rPr>
              <a:t>Learned depth versus learned feature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486581"/>
                </a:solidFill>
                <a:latin typeface="Aptos"/>
              </a:rPr>
              <a:t>IIIT Dharwad • Approach 2 • Prof. Ramesh Athe • run_20260807_155540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MLP uses ReLU, BatchNorm, dropout, AdamW, cosine schedule, and BCE-with-logits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TabNet-style masks are stored as auxiliary artifacts, not granted an XAI score bonus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Both models receive class-weighted loss and early stopping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Three seeds quantify variance rather than cherry-picking one run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CNN1D and feature ordering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04672"/>
            <a:ext cx="9144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0972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486581"/>
                </a:solidFill>
                <a:latin typeface="Aptos"/>
              </a:rPr>
              <a:t>A deliberate probe, with an explicit caveat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486581"/>
                </a:solidFill>
                <a:latin typeface="Aptos"/>
              </a:rPr>
              <a:t>IIIT Dharwad • Approach 2 • Prof. Ramesh Athe • run_20260807_155540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1D convolution sees the frozen feature order as a sequence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Kernel neighborhoods can capture local numeric/category patterns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Feature order is not naturally translational like an image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A future ordering-sensitivity ablation should compare semantic, importance, and random orders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Any gain is interpreted cautiously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Autoencoder anomaly hybrid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04672"/>
            <a:ext cx="9144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0972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486581"/>
                </a:solidFill>
                <a:latin typeface="Aptos"/>
              </a:rPr>
              <a:t>Unusualness is not guilt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486581"/>
                </a:solidFill>
                <a:latin typeface="Aptos"/>
              </a:rPr>
              <a:t>IIIT Dharwad • Approach 2 • Prof. Ramesh Athe • run_20260807_155540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Encoder compresses the transformed row and decoder reconstructs it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Mean reconstruction error becomes an auxiliary anomaly signal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A supervised logistic head maps error to a fraud logit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The run stores reconstruction-related artifacts for interpretation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The explanation language says unusualness, never claimant intent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Feature-token transformer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04672"/>
            <a:ext cx="9144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0972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486581"/>
                </a:solidFill>
                <a:latin typeface="Aptos"/>
              </a:rPr>
              <a:t>Attention across feature 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486581"/>
                </a:solidFill>
                <a:latin typeface="Aptos"/>
              </a:rPr>
              <a:t>IIIT Dharwad • Approach 2 • Prof. Ramesh Athe • run_20260807_155540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Each scalar feature is projected to a token embedding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Pre-norm TransformerEncoder layers model feature interactions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Mean pooling produces the fraud logit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Token representations are stored for future attention analysis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Attention weights are auxiliary evidence; they are not treated as explanations by themselves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Training governance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04672"/>
            <a:ext cx="9144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0972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486581"/>
                </a:solidFill>
                <a:latin typeface="Aptos"/>
              </a:rPr>
              <a:t>Three seeds, checkpoints, and health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486581"/>
                </a:solidFill>
                <a:latin typeface="Aptos"/>
              </a:rPr>
              <a:t>IIIT Dharwad • Approach 2 • Prof. Ramesh Athe • run_20260807_155540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Seeds: 42, 43, and 44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AdamW, cosine learning-rate decay, gradient clipping at norm 1.0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BCE-with-logits with inverse-frequency fraud weighting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Best checkpoint restored by validation PR-AUC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Epoch CSVs record losses, PR-AUC, learning rate, gradient norms, and duration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NaN loss aborts with a diagnostic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Validation leaderboard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04672"/>
            <a:ext cx="9144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0972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486581"/>
                </a:solidFill>
                <a:latin typeface="Aptos"/>
              </a:rPr>
              <a:t>Mean over three seeds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486581"/>
                </a:solidFill>
                <a:latin typeface="Aptos"/>
              </a:rPr>
              <a:t>IIIT Dharwad • Approach 2 • Prof. Ramesh Athe • run_20260807_155540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32588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731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 PR-AUC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 F2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Std PR-AUC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XAI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B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Feature-token transformer</a:t>
                      </a:r>
                    </a:p>
                  </a:txBody>
                  <a:tcPr>
                    <a:solidFill>
                      <a:srgbClr val="EB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0.9800</a:t>
                      </a:r>
                    </a:p>
                  </a:txBody>
                  <a:tcPr>
                    <a:solidFill>
                      <a:srgbClr val="EB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0.9709</a:t>
                      </a:r>
                    </a:p>
                  </a:txBody>
                  <a:tcPr>
                    <a:solidFill>
                      <a:srgbClr val="EB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0.0058</a:t>
                      </a:r>
                    </a:p>
                  </a:txBody>
                  <a:tcPr>
                    <a:solidFill>
                      <a:srgbClr val="EB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available</a:t>
                      </a:r>
                    </a:p>
                  </a:txBody>
                  <a:tcPr>
                    <a:solidFill>
                      <a:srgbClr val="EBF7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TabNet-style attentive 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0.9782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0.9709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0.0038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available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B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1D convolutional tabular </a:t>
                      </a:r>
                    </a:p>
                  </a:txBody>
                  <a:tcPr>
                    <a:solidFill>
                      <a:srgbClr val="EB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0.9763</a:t>
                      </a:r>
                    </a:p>
                  </a:txBody>
                  <a:tcPr>
                    <a:solidFill>
                      <a:srgbClr val="EB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0.9570</a:t>
                      </a:r>
                    </a:p>
                  </a:txBody>
                  <a:tcPr>
                    <a:solidFill>
                      <a:srgbClr val="EB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0.0033</a:t>
                      </a:r>
                    </a:p>
                  </a:txBody>
                  <a:tcPr>
                    <a:solidFill>
                      <a:srgbClr val="EB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available</a:t>
                      </a:r>
                    </a:p>
                  </a:txBody>
                  <a:tcPr>
                    <a:solidFill>
                      <a:srgbClr val="EBF7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MLP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0.9748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0.9662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0.0047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available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B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Autoencoder anomaly hybri</a:t>
                      </a:r>
                    </a:p>
                  </a:txBody>
                  <a:tcPr>
                    <a:solidFill>
                      <a:srgbClr val="EB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0.9528</a:t>
                      </a:r>
                    </a:p>
                  </a:txBody>
                  <a:tcPr>
                    <a:solidFill>
                      <a:srgbClr val="EB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0.9362</a:t>
                      </a:r>
                    </a:p>
                  </a:txBody>
                  <a:tcPr>
                    <a:solidFill>
                      <a:srgbClr val="EB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0.0210</a:t>
                      </a:r>
                    </a:p>
                  </a:txBody>
                  <a:tcPr>
                    <a:solidFill>
                      <a:srgbClr val="EB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02A43"/>
                          </a:solidFill>
                          <a:latin typeface="Aptos"/>
                        </a:defRPr>
                      </a:pPr>
                      <a:r>
                        <a:t>available</a:t>
                      </a:r>
                    </a:p>
                  </a:txBody>
                  <a:tcPr>
                    <a:solidFill>
                      <a:srgbClr val="EB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Training dynamics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04672"/>
            <a:ext cx="9144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0972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486581"/>
                </a:solidFill>
                <a:latin typeface="Aptos"/>
              </a:rPr>
              <a:t>Loss and PR-AUC are evidence of convergence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486581"/>
                </a:solidFill>
                <a:latin typeface="Aptos"/>
              </a:rPr>
              <a:t>IIIT Dharwad • Approach 2 • Prof. Ramesh Athe • run_20260807_155540</a:t>
            </a:r>
          </a:p>
        </p:txBody>
      </p:sp>
      <p:pic>
        <p:nvPicPr>
          <p:cNvPr id="6" name="Picture 5" descr="dl_e_transformer_lear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174" y="1188720"/>
            <a:ext cx="8439171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Deep ROC and PR curves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04672"/>
            <a:ext cx="9144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0972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486581"/>
                </a:solidFill>
                <a:latin typeface="Aptos"/>
              </a:rPr>
              <a:t>Minority-class ranking remains central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486581"/>
                </a:solidFill>
                <a:latin typeface="Aptos"/>
              </a:rPr>
              <a:t>IIIT Dharwad • Approach 2 • Prof. Ramesh Athe • run_20260807_155540</a:t>
            </a:r>
          </a:p>
        </p:txBody>
      </p:sp>
      <p:pic>
        <p:nvPicPr>
          <p:cNvPr id="6" name="Picture 5" descr="pr_curves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37945"/>
            <a:ext cx="5486400" cy="3622189"/>
          </a:xfrm>
          <a:prstGeom prst="rect">
            <a:avLst/>
          </a:prstGeom>
        </p:spPr>
      </p:pic>
      <p:pic>
        <p:nvPicPr>
          <p:cNvPr id="7" name="Picture 6" descr="roc_curves_vali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37945"/>
            <a:ext cx="5486400" cy="362218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Calibration and threshold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04672"/>
            <a:ext cx="9144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0972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486581"/>
                </a:solidFill>
                <a:latin typeface="Aptos"/>
              </a:rPr>
              <a:t>Probability quality before action bands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486581"/>
                </a:solidFill>
                <a:latin typeface="Aptos"/>
              </a:rPr>
              <a:t>IIIT Dharwad • Approach 2 • Prof. Ramesh Athe • run_20260807_155540</a:t>
            </a:r>
          </a:p>
        </p:txBody>
      </p:sp>
      <p:pic>
        <p:nvPicPr>
          <p:cNvPr id="6" name="Picture 5" descr="calibration_rel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32423"/>
            <a:ext cx="5577840" cy="39417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15087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02A43"/>
                </a:solidFill>
                <a:latin typeface="Aptos"/>
              </a:defRPr>
            </a:pPr>
            <a:r>
              <a:t>• Selected model: Feature-token transformer</a:t>
            </a:r>
          </a:p>
          <a:p>
            <a:pPr>
              <a:spcAft>
                <a:spcPts val="1000"/>
              </a:spcAft>
              <a:defRPr sz="1500">
                <a:solidFill>
                  <a:srgbClr val="102A43"/>
                </a:solidFill>
                <a:latin typeface="Aptos"/>
              </a:defRPr>
            </a:pPr>
            <a:r>
              <a:t>• Operating threshold: 0.9800</a:t>
            </a:r>
          </a:p>
          <a:p>
            <a:pPr>
              <a:spcAft>
                <a:spcPts val="1000"/>
              </a:spcAft>
              <a:defRPr sz="1500">
                <a:solidFill>
                  <a:srgbClr val="102A43"/>
                </a:solidFill>
                <a:latin typeface="Aptos"/>
              </a:defRPr>
            </a:pPr>
            <a:r>
              <a:t>• Calibration is fitted on validation probabilities</a:t>
            </a:r>
          </a:p>
          <a:p>
            <a:pPr>
              <a:spcAft>
                <a:spcPts val="1000"/>
              </a:spcAft>
              <a:defRPr sz="1500">
                <a:solidFill>
                  <a:srgbClr val="102A43"/>
                </a:solidFill>
                <a:latin typeface="Aptos"/>
              </a:defRPr>
            </a:pPr>
            <a:r>
              <a:t>• Below 0.30: routine candidate; middle band: review; above threshold: priority review</a:t>
            </a:r>
          </a:p>
          <a:p>
            <a:pPr>
              <a:spcAft>
                <a:spcPts val="1000"/>
              </a:spcAft>
              <a:defRPr sz="1500">
                <a:solidFill>
                  <a:srgbClr val="102A43"/>
                </a:solidFill>
                <a:latin typeface="Aptos"/>
              </a:defRPr>
            </a:pPr>
            <a:r>
              <a:t>• No automatic denial is permitted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XAI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04672"/>
            <a:ext cx="9144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0972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486581"/>
                </a:solidFill>
                <a:latin typeface="Aptos"/>
              </a:rPr>
              <a:t>One scored method, architecture-specific auxiliary 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486581"/>
                </a:solidFill>
                <a:latin typeface="Aptos"/>
              </a:rPr>
              <a:t>IIIT Dharwad • Approach 2 • Prof. Ramesh Athe • run_20260807_155540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Occlusion importance: mean probability change when a transformed feature is zeroed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Faithfulness: top-feature deletion versus random deletion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Stability: top-10 Jaccard overlap under small jitter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Native masks, reconstruction contributions, and tokens enrich the narrative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SHAP/LIME are optional extensions, not silently claimed as executed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XAI result: selected deep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04672"/>
            <a:ext cx="9144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0972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486581"/>
                </a:solidFill>
                <a:latin typeface="Aptos"/>
              </a:rPr>
              <a:t>Global importance and a local dossier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486581"/>
                </a:solidFill>
                <a:latin typeface="Aptos"/>
              </a:rPr>
              <a:t>IIIT Dharwad • Approach 2 • Prof. Ramesh Athe • run_20260807_155540</a:t>
            </a:r>
          </a:p>
        </p:txBody>
      </p:sp>
      <p:pic>
        <p:nvPicPr>
          <p:cNvPr id="6" name="Picture 5" descr="dl_e_transformer_occlusion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11788"/>
            <a:ext cx="5669280" cy="43830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14630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02A43"/>
                </a:solidFill>
                <a:latin typeface="Aptos"/>
              </a:defRPr>
            </a:pPr>
            <a:r>
              <a:t>• Faithfulness at k=5: 0.0778</a:t>
            </a:r>
          </a:p>
          <a:p>
            <a:pPr>
              <a:spcAft>
                <a:spcPts val="1000"/>
              </a:spcAft>
              <a:defRPr sz="1500">
                <a:solidFill>
                  <a:srgbClr val="102A43"/>
                </a:solidFill>
                <a:latin typeface="Aptos"/>
              </a:defRPr>
            </a:pPr>
            <a:r>
              <a:t>• Stability Jaccard: 0.2500</a:t>
            </a:r>
          </a:p>
          <a:p>
            <a:pPr>
              <a:spcAft>
                <a:spcPts val="1000"/>
              </a:spcAft>
              <a:defRPr sz="1500">
                <a:solidFill>
                  <a:srgbClr val="102A43"/>
                </a:solidFill>
                <a:latin typeface="Aptos"/>
              </a:defRPr>
            </a:pPr>
            <a:r>
              <a:t>• Local dossier contains top five neutral drivers</a:t>
            </a:r>
          </a:p>
          <a:p>
            <a:pPr>
              <a:spcAft>
                <a:spcPts val="1000"/>
              </a:spcAft>
              <a:defRPr sz="1500">
                <a:solidFill>
                  <a:srgbClr val="102A43"/>
                </a:solidFill>
                <a:latin typeface="Aptos"/>
              </a:defRPr>
            </a:pPr>
            <a:r>
              <a:t>• Interpretation is association, not causation</a:t>
            </a:r>
          </a:p>
          <a:p>
            <a:pPr>
              <a:spcAft>
                <a:spcPts val="1000"/>
              </a:spcAft>
              <a:defRPr sz="1500">
                <a:solidFill>
                  <a:srgbClr val="102A43"/>
                </a:solidFill>
                <a:latin typeface="Aptos"/>
              </a:defRPr>
            </a:pPr>
            <a:r>
              <a:t>• Review evidence and documents before action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Fairness and explanation equity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04672"/>
            <a:ext cx="9144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0972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486581"/>
                </a:solidFill>
                <a:latin typeface="Aptos"/>
              </a:rPr>
              <a:t>Audited across the same slices as Approach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486581"/>
                </a:solidFill>
                <a:latin typeface="Aptos"/>
              </a:rPr>
              <a:t>IIIT Dharwad • Approach 2 • Prof. Ramesh Athe • run_20260807_155540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Gender, age band, claim type, and employment slices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Recall/TPR, FPR, precision, accuracy, and predicted fraud rate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Small cells remain visible and are marked unstable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Sensitive attributes are used for audit, never as direct denial features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Synthetic-data limitations are foregrounded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Class imbalance and augmentation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04672"/>
            <a:ext cx="9144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0972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486581"/>
                </a:solidFill>
                <a:latin typeface="Aptos"/>
              </a:rPr>
              <a:t>Weighted loss is the reference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486581"/>
                </a:solidFill>
                <a:latin typeface="Aptos"/>
              </a:rPr>
              <a:t>IIIT Dharwad • Approach 2 • Prof. Ramesh Athe • run_20260807_155540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Reference: inverse-frequency fraud weight in BCE-with-logits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Balanced sampler and focal loss are configurable follow-on probes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No validation or test oversampling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Gaussian noise, masking, and mixup require ablation before adoption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A deep model should not win by seeing a different evaluation distribution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Classical versus deep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04672"/>
            <a:ext cx="9144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0972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486581"/>
                </a:solidFill>
                <a:latin typeface="Aptos"/>
              </a:rPr>
              <a:t>Parity is a valid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486581"/>
                </a:solidFill>
                <a:latin typeface="Aptos"/>
              </a:rPr>
              <a:t>IIIT Dharwad • Approach 2 • Prof. Ramesh Athe • run_20260807_155540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Classical trees often excel on small structured datasets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Deep models can learn interactions and representation geometry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Deep training adds compute, tuning, and stability costs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XAI quality and calibration matter alongside PR-AUC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The combined champion is decided only after all approaches share a locked test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Limitations and reproducibility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04672"/>
            <a:ext cx="9144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0972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486581"/>
                </a:solidFill>
                <a:latin typeface="Aptos"/>
              </a:rPr>
              <a:t>What this run can and cannot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486581"/>
                </a:solidFill>
                <a:latin typeface="Aptos"/>
              </a:rPr>
              <a:t>IIIT Dharwad • Approach 2 • Prof. Ramesh Athe • run_20260807_155540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4,500-row supplied workbook; no policy/document fields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Same one-row transformed matrix, not a full entity-embedding ingestion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Three-seed reference training, not a 50-trial Bayesian sweep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GPU determinism may differ from CPU; device is logged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Future: temporal, graph, external validation, and document evidence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Handoff to Approach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04672"/>
            <a:ext cx="9144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0972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486581"/>
                </a:solidFill>
                <a:latin typeface="Aptos"/>
              </a:rPr>
              <a:t>Document intelligence is the next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486581"/>
                </a:solidFill>
                <a:latin typeface="Aptos"/>
              </a:rPr>
              <a:t>IIIT Dharwad • Approach 2 • Prof. Ramesh Athe • run_20260807_155540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Use the deep/classical probability as one statistical evidence channel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Add document quality and OCR/VLM extraction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Retrieve policy clauses and fraud rules with citations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Route disagreement between models and agents to human review</a:t>
            </a:r>
          </a:p>
          <a:p>
            <a:pPr>
              <a:spcAft>
                <a:spcPts val="1000"/>
              </a:spcAft>
              <a:defRPr sz="1700">
                <a:solidFill>
                  <a:srgbClr val="102A43"/>
                </a:solidFill>
                <a:latin typeface="Aptos"/>
              </a:defRPr>
            </a:pPr>
            <a:r>
              <a:t>• Preserve audit trails and claimant-facing explanations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54480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0">
                <a:solidFill>
                  <a:srgbClr val="E9C46A"/>
                </a:solidFill>
                <a:latin typeface="Aptos"/>
              </a:rPr>
              <a:t>Questions and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931920"/>
            <a:ext cx="9601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  <a:latin typeface="Aptos"/>
              </a:rPr>
              <a:t>B Varshith • M Jagadeshwar • J Ganesh
Faculty Adviser: Prof. Ramesh Athe
IIIT Dharwad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32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BED2E1"/>
                </a:solidFill>
                <a:latin typeface="Aptos"/>
              </a:rPr>
              <a:t>References: documentation2/references.md • XAI artifacts: evaluation2/xai/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