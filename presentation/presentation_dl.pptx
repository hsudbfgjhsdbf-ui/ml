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Medical Insurance Claim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9C12"/>
                </a:solidFill>
                <a:latin typeface="Calibri"/>
              </a:defRPr>
            </a:pPr>
            <a:r>
              <a:t>Approach 2 —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IIIT Dharwad —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Faculty Adviser: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Team: B Varshith, M Jagadeshwar, J Ganesh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Motivation</a:t>
            </a:r>
          </a:p>
        </p:txBody>
      </p:sp>
      <p:pic>
        <p:nvPicPr>
          <p:cNvPr id="3" name="Picture 2" descr="deep_learn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Neural networks learn complex non-linear feature interactions automatically.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10 architectures evaluated on the same data/test set as Approach 1.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Weighted-BCE + focal-style imbalance handling; entity embeddings.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Goal: advance beyond the interpretable ML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Architectures</a:t>
            </a:r>
          </a:p>
        </p:txBody>
      </p:sp>
      <p:pic>
        <p:nvPicPr>
          <p:cNvPr id="3" name="Picture 2" descr="deep_learn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Supervised: MLP, Wide &amp; Deep, DCN, TabNet, Transformer, ResNet, NODE, LSTM.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Unsupervised anomaly: Autoencoder, VAE (trained on legitimate claims only).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All classifiers end in a sigmoid head producing a fraud probability.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Regularisation: dropout, batch norm, early stopping, gradient clipping.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DL Benchmarking Results (ranked by F2)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8346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97280"/>
            <a:ext cx="10058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WideAndDeep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202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202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28600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DCN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28600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5176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TabNet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5176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MLP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1752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3832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ResNet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3832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7490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NODE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37490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11480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LSTM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0.578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411480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48056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Autoencoder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0.302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2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0.413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0.528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448056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84632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VAE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0.884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0.289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0.400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0.520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484632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Training Dynamics</a:t>
            </a:r>
          </a:p>
        </p:txBody>
      </p:sp>
      <p:pic>
        <p:nvPicPr>
          <p:cNvPr id="3" name="Picture 2" descr="dl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8739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Train/val loss and validation F2 per epoch for every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ROC &amp; Precision-Recall Curves</a:t>
            </a:r>
          </a:p>
        </p:txBody>
      </p:sp>
      <p:pic>
        <p:nvPicPr>
          <p:cNvPr id="3" name="Picture 2" descr="dl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2927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DL classifiers achieve AUC-ROC 0.99+, PR curves confirm strong precision-recall.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Comparison vs Traditional ML Baseline (F2)</a:t>
            </a:r>
          </a:p>
        </p:txBody>
      </p:sp>
      <p:pic>
        <p:nvPicPr>
          <p:cNvPr id="3" name="Picture 2" descr="dl_vs_ml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34646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Deep models are competitive with the best tree-based ML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Embedding Visualisation (t-SNE)</a:t>
            </a:r>
          </a:p>
        </p:txBody>
      </p:sp>
      <p:pic>
        <p:nvPicPr>
          <p:cNvPr id="3" name="Picture 2" descr="tsne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4778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Fraud and legitimate claims are largely separable in feature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SHAP Feature Attribution</a:t>
            </a:r>
          </a:p>
        </p:txBody>
      </p:sp>
      <p:pic>
        <p:nvPicPr>
          <p:cNvPr id="3" name="Picture 2" descr="shap_dl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0" cy="267650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Feature-level SHAP importance for the best deep-learning classifier.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Statistical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Bootstrap 95% confidence intervals computed for AUC-ROC and AUC-PR.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Early stopping + fixed seeds ensure reproducible training.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Unsupervised AE/VAE reconstruct legitimate claims; high reconstruction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  error flags anomalies (AUC-ROC ≈ 0.90 as one-class detectors).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Strengths: automatic feature hierarchy, high capacity, competitive F2.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Limitations: more compute, less inherently interpretable than trees.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Wide &amp; Deep (F2 0.927) and Transformer (0.924) are the strongest.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Best DL: WideAndDeep (F2=0.927, AUC-ROC=0.998) if best else 'Best DL identified'.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Deep learning matches/advances the traditional ML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DL+ML ensembles, MC-dropout uncertainty, calibration, deployment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IIIT Dharwad — Dept. of Data Science and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