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Medical Insurance Claim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39C12"/>
                </a:solidFill>
                <a:latin typeface="Calibri"/>
              </a:defRPr>
            </a:pPr>
            <a:r>
              <a:t>Approach 1 — Traditional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IIIT Dharwad — Department of Data Science and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Faculty Adviser: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Team: B Varshith, M Jagadeshwar, J Ganesh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Medical insurance fraud costs Indian insurers billions of rupees annually.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Fraudulent claims inflate premiums for genuine policyholders.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Goal: binary classification of each claim as Fraud or Legitimate.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This approach establishes the reproducible ML baseline for the project.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Objectives &amp; Scope</a:t>
            </a:r>
          </a:p>
        </p:txBody>
      </p:sp>
      <p:pic>
        <p:nvPicPr>
          <p:cNvPr id="3" name="Picture 2" descr="hero_fraud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88720"/>
            <a:ext cx="3840480" cy="2094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Implement and compare 12 classical ML algorithms.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Systematic preprocessing, feature engineering and imbalance handling.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Rigorous evaluation: Accuracy, Precision, Recall, F2, AUC-ROC, AUC-PR, MCC.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Statistical significance testing, fairness and business-impact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Dataset</a:t>
            </a:r>
          </a:p>
        </p:txBody>
      </p:sp>
      <p:pic>
        <p:nvPicPr>
          <p:cNvPr id="3" name="Picture 2" descr="india_healthc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88720"/>
            <a:ext cx="3840480" cy="2094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4,500 Indian-context health insurance claims.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19 raw features (claim amount, diagnosis, specialty, age, income, ...).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Class balance: Legitimate 94% / Fraud 6% (imbalanced).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70-15-15 stratified train-validation-test split.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Methodology</a:t>
            </a:r>
          </a:p>
        </p:txBody>
      </p:sp>
      <p:pic>
        <p:nvPicPr>
          <p:cNvPr id="3" name="Picture 2" descr="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88720"/>
            <a:ext cx="3840480" cy="2094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Preprocessing: imputation, deduplication, IQR outlier flagging,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  one-hot + target encoding, standard scaling.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Feature engineering: temporal, ratio, interaction features.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Class imbalance: SMOTE + class weights.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Tuning: stratified 5-fold CV, grid/random search optimising F2.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Benchmarking Results (ranked by F2)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83464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Prec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097280"/>
            <a:ext cx="100584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5448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92024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XGBoost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92024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28600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Decision Tree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28600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65176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Gradient Boosting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65176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01752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LightGBM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301752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38328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AdaBoost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33832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33832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33832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33832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33832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338328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74904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Logistic Regression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37490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37490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37490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0" y="37490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0.899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37490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0.957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374904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11480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SVM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41148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41148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0.830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7760" y="41148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0720" y="41148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0.897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41148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0.942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411480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448056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Neural Network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91840" y="44805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0" y="44805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0.776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60" y="44805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0.950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60720" y="44805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0.854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44805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0.909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06640" y="448056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484632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Naive Bayes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91840" y="48463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0" y="48463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0.625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37760" y="48463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60720" y="48463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0.769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48463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0.893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06640" y="484632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521208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KNN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91840" y="52120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0" y="52120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0.712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37760" y="52120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60720" y="52120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0.804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0" y="52120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0.873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06640" y="521208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557784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QDA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91840" y="55778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0.941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0" y="55778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0.500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37760" y="55778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60720" y="55778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0.667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0" y="55778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0.833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06640" y="557784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Top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83464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Prec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97280"/>
            <a:ext cx="82296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097280"/>
            <a:ext cx="1005840" cy="411480"/>
          </a:xfrm>
          <a:prstGeom prst="rect">
            <a:avLst/>
          </a:prstGeom>
          <a:solidFill>
            <a:srgbClr val="1B2A4A"/>
          </a:solidFill>
        </p:spPr>
        <p:txBody>
          <a:bodyPr wrap="none" tIns="25400" bIns="2540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5448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92024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XGBoost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92024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92024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28600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Decision Tree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28600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28600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65176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Gradient Boosting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65176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65176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017520"/>
            <a:ext cx="28346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LightGBM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017520"/>
            <a:ext cx="82296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0.980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3017520"/>
            <a:ext cx="1005840" cy="411480"/>
          </a:xfrm>
          <a:prstGeom prst="rect">
            <a:avLst/>
          </a:prstGeom>
          <a:noFill/>
        </p:spPr>
        <p:txBody>
          <a:bodyPr wrap="none" tIns="25400" bIns="25400">
            <a:spAutoFit/>
          </a:bodyPr>
          <a:lstStyle/>
          <a:p>
            <a:pPr>
              <a:defRPr sz="1000" b="0">
                <a:solidFill>
                  <a:srgbClr val="1B2A4A"/>
                </a:solidFill>
              </a:defRPr>
            </a:pPr>
            <a:r>
              <a:t>1.000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Evaluation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Metrics: Accuracy, Precision, Recall, F1, F2, AUC-ROC, AUC-PR, MCC.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Optimal decision threshold per model (maximise F2, favour recall).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McNemar's test for pairwise statistical significance.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Bootstrap 95% confidence intervals and confusion-matrix business impact.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Feature Importance</a:t>
            </a:r>
          </a:p>
        </p:txBody>
      </p:sp>
      <p:pic>
        <p:nvPicPr>
          <p:cNvPr id="3" name="Picture 2" descr="explainable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88720"/>
            <a:ext cx="3840480" cy="2094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Mutual-information ranking of engineered features.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Tree-based feature importances (RF, GBM, XGBoost, LightGBM).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Identifies claim-amount &amp; specialty-cost signals driving fraud.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Strengths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Strengths: interpretable, fast, low compute, reproducible.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Limitations: linear/feature-engineered patterns; needs manual features.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Complemented by Deep Learning (Approach 2) and Agent AI (Approach 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Best Traditional ML model ranked by F2 identified.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Provides the baseline the DL and Agent AI approaches improve upon.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Feed best ML features into the deep-learning approach.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Integrate explainable decisions into the agent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1.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2.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3.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4.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5.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6.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7.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8.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9.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10.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11.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12.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13.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14.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15.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16.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17.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18.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19. ML insurance-fraud detection literature (see research paper)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20. ML insurance-fraud detection literature (see research paper)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Questions welcome.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IIIT Dharwad — Dept. of Data Science and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