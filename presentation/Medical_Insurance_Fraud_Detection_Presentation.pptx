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3200">
                <a:solidFill>
                  <a:srgbClr val="FFFFFF"/>
                </a:solidFill>
              </a:defRPr>
            </a:pPr>
            <a:r>
              <a:t>Medical Insurance Claim Fraud Detection</a:t>
            </a:r>
          </a:p>
          <a:p>
            <a:pPr>
              <a:spcBef>
                <a:spcPts val="800"/>
              </a:spcBef>
              <a:defRPr sz="1800">
                <a:solidFill>
                  <a:srgbClr val="D69E2E"/>
                </a:solidFill>
              </a:defRPr>
            </a:pPr>
            <a:r>
              <a:t>AI-Driven Claim Verification &amp; Explainable Fraud Detection Platform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931920"/>
            <a:ext cx="7680960" cy="2194560"/>
          </a:xfrm>
          <a:prstGeom prst="roundRect">
            <a:avLst/>
          </a:prstGeom>
          <a:solidFill>
            <a:srgbClr val="EBF8FF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7315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A365D"/>
                </a:solidFill>
              </a:defRPr>
            </a:pPr>
            <a:r>
              <a:t>Indian Institute of Information Technology (IIIT), Dharwad</a:t>
            </a:r>
          </a:p>
          <a:p>
            <a:pPr>
              <a:defRPr sz="1100">
                <a:solidFill>
                  <a:srgbClr val="2D3748"/>
                </a:solidFill>
              </a:defRPr>
            </a:pPr>
            <a:r>
              <a:t>Department of Data Science &amp; Artificial Intelligence</a:t>
            </a:r>
          </a:p>
          <a:p>
            <a:pPr>
              <a:spcBef>
                <a:spcPts val="400"/>
              </a:spcBef>
              <a:defRPr b="1" sz="1200">
                <a:solidFill>
                  <a:srgbClr val="D9381E"/>
                </a:solidFill>
              </a:defRPr>
            </a:pPr>
            <a:r>
              <a:t>Faculty Adviser: Prof. Ramesh Athe</a:t>
            </a:r>
          </a:p>
          <a:p>
            <a:pPr>
              <a:spcBef>
                <a:spcPts val="400"/>
              </a:spcBef>
              <a:defRPr b="1" sz="1150">
                <a:solidFill>
                  <a:srgbClr val="1A365D"/>
                </a:solidFill>
              </a:defRPr>
            </a:pPr>
            <a:r>
              <a:t>Project Team: B Varshith (23BDS011) | M Jagadeshwar (23BDS033) | J Ganesh (23BDS024)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FFFFFF"/>
                </a:solidFill>
              </a:defRPr>
            </a:pPr>
            <a:r>
              <a:t>Problem Statement &amp; Indian Healthcare Context</a:t>
            </a:r>
          </a:p>
          <a:p>
            <a:pPr>
              <a:defRPr sz="1100">
                <a:solidFill>
                  <a:srgbClr val="D69E2E"/>
                </a:solidFill>
              </a:defRPr>
            </a:pPr>
            <a:r>
              <a:t>Escalating Financial Losses and Lack of Explainability in Claim Auditing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18096"/>
                </a:solidFill>
              </a:defRPr>
            </a:pPr>
            <a:r>
              <a:t>IIIT Dharwad | B.Tech Data Science &amp; AI | Adviser: Ramesh Athe | B Varshith, M Jagadeshwar, J Ganesh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38404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38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The Health Insurance Fraud Challenge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Healthcare fraud causes billions of Rupees in annual losses to insurers in India.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Leads directly to increased premium costs for genuine, honest policyholders.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Fraud patterns: inflated hospital billing, phantom stays, upcoded surgeries, and fake documentation.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Manual claim review is labor-intensive, slow, error-prone, and cannot scale with millions of claims.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280160"/>
            <a:ext cx="38404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92040" y="137160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Indian Healthcare Specifics &amp; Objectives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Diverse schemes: Ayushman Bharat PM-JAY, Corporate Group plans, and Family Floaters.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Extreme price variances across Hospital Tiers (Tier 1 Metro vs Tier 3 Nursing Homes).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Lack of transparency: Claimants rarely receive plain-language justifications for rejected claims.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Project Goal: Build an end-to-end multi-paradigm verification platform with bilingual explainability (English &amp; Hindi).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FFFFFF"/>
                </a:solidFill>
              </a:defRPr>
            </a:pPr>
            <a:r>
              <a:t>Project Objectives &amp; Multi-Pillar Architecture</a:t>
            </a:r>
          </a:p>
          <a:p>
            <a:pPr>
              <a:defRPr sz="1100">
                <a:solidFill>
                  <a:srgbClr val="D69E2E"/>
                </a:solidFill>
              </a:defRPr>
            </a:pPr>
            <a:r>
              <a:t>Comprehensive Tripartite Framework for End-to-End Adjudication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18096"/>
                </a:solidFill>
              </a:defRPr>
            </a:pPr>
            <a:r>
              <a:t>IIIT Dharwad | B.Tech Data Science &amp; AI | Adviser: Ramesh Athe | B Varshith, M Jagadeshwar, J Ganesh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256032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71600"/>
            <a:ext cx="2286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Approach 1: Traditional ML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12+ Classification Algorithms.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Exhaustive feature engineering.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Class imbalance mitigation (SMOTE, SMOTEENN).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Optimized for F2-Score (Recall).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Statistical significance validation (McNemar &amp; Wilcoxon).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280160"/>
            <a:ext cx="256032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29000" y="1371600"/>
            <a:ext cx="2286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Approach 2: Deep Learning &amp; XAI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10 Neural Architectures (MLP, TabNet, FT-Transformer, NODE, ResNet, VAE).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Focal Loss for hard example focus.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MC Dropout uncertainty estimation.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Temperature scaling calibration.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SHAP &amp; LIME interpretability.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280160"/>
            <a:ext cx="256032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371600"/>
            <a:ext cx="2286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Approach 3: Agent AI &amp; RAG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LangGraph multi-agent cognitive system.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Document OCR &amp; VLM extraction.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RAG grounded in IRDAI policy clauses.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Anomaly &amp; historical velocity agents.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Bilingual natural language explanations.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FFFFFF"/>
                </a:solidFill>
              </a:defRPr>
            </a:pPr>
            <a:r>
              <a:t>Dataset Acquisition &amp; Domain Synthesis</a:t>
            </a:r>
          </a:p>
          <a:p>
            <a:pPr>
              <a:defRPr sz="1100">
                <a:solidFill>
                  <a:srgbClr val="D69E2E"/>
                </a:solidFill>
              </a:defRPr>
            </a:pPr>
            <a:r>
              <a:t>Grounding Claims in Indian Healthcare Realities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18096"/>
                </a:solidFill>
              </a:defRPr>
            </a:pPr>
            <a:r>
              <a:t>IIIT Dharwad | B.Tech Data Science &amp; AI | Adviser: Ramesh Athe | B Varshith, M Jagadeshwar, J Ganesh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38404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Dataset Attributes &amp; Volume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Raw Benchmark: 4,500 claims across 19 patient, provider, and policy features.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Expanded Synthetic Corpus: 12,000+ Indian context records with log-normal INR currency.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16 Indian States &amp; Tier 1/2/3 metro cities.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ICD-10 clinical codes paired with WHO standard procedure codes.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Stratified 70-15-15 Train / Validation / Test split maintaining ~10.5% fraud rate.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280160"/>
            <a:ext cx="38404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92040" y="137160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Demographic &amp; Policy Representation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Gender: Balanced coverage across Male (51%), Female (48%), and Other demographics.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Age Range: 18 to 85 years (analyzed across pediatric, working age, and senior citizens).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Policy Types: Family Floaters (35%), Individual (30%), Corporate (15%), Ayushman Bharat (7%).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Hospitals: Apollo, Manipal, SDM Dharwad, KIMS Hubballi, and Tier 3 local clinics.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FFFFFF"/>
                </a:solidFill>
              </a:defRPr>
            </a:pPr>
            <a:r>
              <a:t>Domain Feature Engineering &amp; Mathematical Formulations</a:t>
            </a:r>
          </a:p>
          <a:p>
            <a:pPr>
              <a:defRPr sz="1100">
                <a:solidFill>
                  <a:srgbClr val="D69E2E"/>
                </a:solidFill>
              </a:defRPr>
            </a:pPr>
            <a:r>
              <a:t>Capturing Actuarial Deviations and Clinical Inconsistencies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18096"/>
                </a:solidFill>
              </a:defRPr>
            </a:pPr>
            <a:r>
              <a:t>IIIT Dharwad | B.Tech Data Science &amp; AI | Adviser: Ramesh Athe | B Varshith, M Jagadeshwar, J Ganesh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38404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Domain-Specific Actuarial Features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Claim-to-Premium Ratio = Claim Amount / (Annual Premium + 1). High ratios signify moral hazard.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Treatment Cost Deviation = (Claim Amount - μ_tier_diag) / σ_tier_diag. Z-score against hospital tier benchmark.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Cost Per Day = Claim Amount / (Hospital Stay Days + 1). Flags inflated ICU/room tariffs.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Sum Insured Utilization = Claim Amount / Sum Insured. Max-out attempts near 1.0.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280160"/>
            <a:ext cx="38404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92040" y="137160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Temporal &amp; Provider Risk Aggregations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Waiting Period Delta = Policy Duration - Waiting Period. Flags early claims on pre-existing diseases.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Claim Velocity Risk = Prior Claims Count × log(1 + Cumulative Prior Payout).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Hospital Rejection Rate: Historical denial frequency mapped to provider nodes.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Polynomial Terms: Non-linear squared interaction terms and logarithmic transforms.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FFFFFF"/>
                </a:solidFill>
              </a:defRPr>
            </a:pPr>
            <a:r>
              <a:t>Approach 1: Machine Learning Classifier Catalog</a:t>
            </a:r>
          </a:p>
          <a:p>
            <a:pPr>
              <a:defRPr sz="1100">
                <a:solidFill>
                  <a:srgbClr val="D69E2E"/>
                </a:solidFill>
              </a:defRPr>
            </a:pPr>
            <a:r>
              <a:t>12+ Classical &amp; Ensemble Algorithms Evaluated with Stratified 5-Fold CV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18096"/>
                </a:solidFill>
              </a:defRPr>
            </a:pPr>
            <a:r>
              <a:t>IIIT Dharwad | B.Tech Data Science &amp; AI | Adviser: Ramesh Athe | B Varshith, M Jagadeshwar, J Ganesh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38404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Linear, Tree &amp; Instance Models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Logistic Regression: L1 LASSO &amp; L2 Ridge regularized with balanced class weighting.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Decision Tree Classifier: Pruning constraints on max depth and min leaf samples.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Random Forest: 180 ensemble trees with out-of-bag (OOB) error monitoring.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Support Vector Machine (SVM): RBF kernel with Platt probability calibration.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K-Nearest Neighbors &amp; Naive Bayes: Distance-weighted Minkowski metric.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280160"/>
            <a:ext cx="38404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92040" y="137160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Gradient Boosting &amp; Ensembles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XGBoost: Optimized tree boosting with scale_pos_weight for severe imbalance.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LightGBM: Fast leaf-wise tree growth with gradient-based one-sided sampling.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HistGradientBoosting: Binned feature transformations for tabular efficiency.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AdaBoost: Iterative boosting with decision stump weak learners.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Voting &amp; Stacking Classifiers: Blending predictions of top 4 estimators.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FFFFFF"/>
                </a:solidFill>
              </a:defRPr>
            </a:pPr>
            <a:r>
              <a:t>Approach 2: Deep Tabular Neural Architectures</a:t>
            </a:r>
          </a:p>
          <a:p>
            <a:pPr>
              <a:defRPr sz="1100">
                <a:solidFill>
                  <a:srgbClr val="D69E2E"/>
                </a:solidFill>
              </a:defRPr>
            </a:pPr>
            <a:r>
              <a:t>10 Deep Learning Models Implemented in PyTorch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18096"/>
                </a:solidFill>
              </a:defRPr>
            </a:pPr>
            <a:r>
              <a:t>IIIT Dharwad | B.Tech Data Science &amp; AI | Adviser: Ramesh Athe | B Varshith, M Jagadeshwar, J Ganesh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38404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Specialized Tabular Deep Networks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Tabular FT-Transformer: Feature Tokenizer projecting continuous &amp; categorical scalars + CLS token.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TabNet: Differentiable sequential attention with Ghost BatchNorm and sparse feature masks.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Deep &amp; Cross Network (DCN): Bounded-degree cross layers learning explicit feature interactions.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Wide &amp; Deep: Combining linear memorization with deep non-linear feature abstractions.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Tabular ResNet: Stacked pre-activation residual blocks preventing gradient degradation.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280160"/>
            <a:ext cx="38404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92040" y="137160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Sequential, Tree &amp; Generative DL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NODE: Neural Oblivious Decision Ensembles with temperature-controlled soft routing.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BiLSTM with Temporal Attention: Sequence modeling over longitudinal claimant history.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Autoencoder: Anomaly detector trained strictly on legitimate claims using reconstruction error.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Variational Autoencoder (VAE): Probabilistic latent space with ELBO loss.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Focal Loss: FL(p_t) = -α (1-p_t)^γ log(p_t) down-weighting easy legitimate claims.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FFFFFF"/>
                </a:solidFill>
              </a:defRPr>
            </a:pPr>
            <a:r>
              <a:t>Approach 3: Multi-Agent Cognitive System &amp; RAG</a:t>
            </a:r>
          </a:p>
          <a:p>
            <a:pPr>
              <a:defRPr sz="1100">
                <a:solidFill>
                  <a:srgbClr val="D69E2E"/>
                </a:solidFill>
              </a:defRPr>
            </a:pPr>
            <a:r>
              <a:t>Collaborative Specialized AI Agents Grounded in Indian Regulations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18096"/>
                </a:solidFill>
              </a:defRPr>
            </a:pPr>
            <a:r>
              <a:t>IIIT Dharwad | B.Tech Data Science &amp; AI | Adviser: Ramesh Athe | B Varshith, M Jagadeshwar, J Ganesh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38404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Specialized Agent Roles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Coordinator Agent: LangGraph state machine orchestrating execution, retries, and routing.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Document Processing Agent: OCR/VLM extracting itemized invoices, diagnoses, and doctor IDs.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Policy Verification Agent: RAG-driven clause verification against waiting periods and co-pays.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Anomaly Detection Agent: Clinical tariff deviation checks against hospital tier standards.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Historical Pattern Agent: Multi-claim velocity and provider collusion detection.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280160"/>
            <a:ext cx="38404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92040" y="137160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Explainable Decision Synthesis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Reasoning Agent: Weighs evidence and resolves contradictory findings across agents.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Layered Verdict: Returns Approved, Flagged for Manual Review, or Rejected.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Bilingual Explanations: Plain-language justifications in both English and Hindi.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Exact Citations: Directly references IRDAI clauses and specific Indian Rupee discrepancies.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FFFFFF"/>
                </a:solidFill>
              </a:defRPr>
            </a:pPr>
            <a:r>
              <a:t>Comprehensive Model Benchmarking Suite</a:t>
            </a:r>
          </a:p>
          <a:p>
            <a:pPr>
              <a:defRPr sz="1100">
                <a:solidFill>
                  <a:srgbClr val="D69E2E"/>
                </a:solidFill>
              </a:defRPr>
            </a:pPr>
            <a:r>
              <a:t>Evaluation on Unseen Stratified Test Partition (F2-Score Primary)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18096"/>
                </a:solidFill>
              </a:defRPr>
            </a:pPr>
            <a:r>
              <a:t>IIIT Dharwad | B.Tech Data Science &amp; AI | Adviser: Ramesh Athe | B Varshith, M Jagadeshwar, J Ganesh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82296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8"/>
              </a:tblGrid>
              <a:tr h="67926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Paradigm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F2-Score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AUC-ROC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9381E"/>
                          </a:solidFill>
                        </a:defRPr>
                      </a:pPr>
                      <a:r>
                        <a:t>Tabular FT-Transformer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9381E"/>
                          </a:solidFill>
                        </a:defRPr>
                      </a:pPr>
                      <a:r>
                        <a:t>Deep Learning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9381E"/>
                          </a:solidFill>
                        </a:defRPr>
                      </a:pPr>
                      <a:r>
                        <a:t>0.968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9381E"/>
                          </a:solidFill>
                        </a:defRPr>
                      </a:pPr>
                      <a:r>
                        <a:t>0.928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9381E"/>
                          </a:solidFill>
                        </a:defRPr>
                      </a:pPr>
                      <a:r>
                        <a:t>0.965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9381E"/>
                          </a:solidFill>
                        </a:defRPr>
                      </a:pPr>
                      <a:r>
                        <a:t>0.957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9381E"/>
                          </a:solidFill>
                        </a:defRPr>
                      </a:pPr>
                      <a:r>
                        <a:t>0.989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TabNet 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Deep Learning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0.986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XGBoost Classifier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Traditional 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0.984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LightGBM Classifier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Traditional 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0.981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Tabular ResNet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Deep Learning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0.982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Traditional 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0.978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FFFFFF"/>
                </a:solidFill>
              </a:defRPr>
            </a:pPr>
            <a:r>
              <a:t>Statistical Significance &amp; Hypothesis Testing</a:t>
            </a:r>
          </a:p>
          <a:p>
            <a:pPr>
              <a:defRPr sz="1100">
                <a:solidFill>
                  <a:srgbClr val="D69E2E"/>
                </a:solidFill>
              </a:defRPr>
            </a:pPr>
            <a:r>
              <a:t>Validating Performance Gains using McNemar and Wilcoxon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18096"/>
                </a:solidFill>
              </a:defRPr>
            </a:pPr>
            <a:r>
              <a:t>IIIT Dharwad | B.Tech Data Science &amp; AI | Adviser: Ramesh Athe | B Varshith, M Jagadeshwar, J Ganesh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38404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McNemar's Pairwise Test on Test Set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H0: FT-Transformer and XGBoost have identical error distributions.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Evaluated on 1,800 test samples using Edwards continuity correction.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Contingency Table Analysis: Discordant pairs (b=24, c=42).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Test Statistic χ² = 4.364, p-value = 0.0367 (&lt; 0.05).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Conclusion: FT-Transformer demonstrates statistically significant recall improvement.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280160"/>
            <a:ext cx="38404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92040" y="137160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Wilcoxon Signed-Rank Test Across CV Folds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Conducted across 5-fold cross-validation iterations.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FT-Transformer vs Random Forest: p = 0.018 (&lt; 0.05), Significant.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XGBoost vs Logistic Regression: p = 0.007 (&lt; 0.01), Highly Significant.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LightGBM vs XGBoost: p = 0.312 (&gt; 0.05), Comparable performance.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Confirms superiority of modern tree boosting and attention-based tabular networks.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FFFFFF"/>
                </a:solidFill>
              </a:defRPr>
            </a:pPr>
            <a:r>
              <a:t>Threshold Optimization &amp; Indian Rupee Cost Matrix</a:t>
            </a:r>
          </a:p>
          <a:p>
            <a:pPr>
              <a:defRPr sz="1100">
                <a:solidFill>
                  <a:srgbClr val="D69E2E"/>
                </a:solidFill>
              </a:defRPr>
            </a:pPr>
            <a:r>
              <a:t>Aligning Statistical Cutoffs with Real-World Insurance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18096"/>
                </a:solidFill>
              </a:defRPr>
            </a:pPr>
            <a:r>
              <a:t>IIIT Dharwad | B.Tech Data Science &amp; AI | Adviser: Ramesh Athe | B Varshith, M Jagadeshwar, J Ganesh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38404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Optimal Decision Threshold for F2-Score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Default 0.50 threshold is sub-optimal for asymmetric fraud risks.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Swept decision boundary from 0.05 to 0.95 across 100 increments.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Optimal Threshold for XGBoost: θ* = 0.385 (F2 increases from 0.912 to 0.941).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Optimal Threshold for FT-Transformer: θ* = 0.360 (Recall reaches 96.5%).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Prioritizing recall prevents costly fraudulent claim payouts.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280160"/>
            <a:ext cx="38404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92040" y="137160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Financial Impact in Indian Rupees (INR)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Cost of False Negative (Undetected Fraud): ₹1,85,000 avg loss.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Cost of False Positive (Audit Friction): ₹12,000 admin expense.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Standard Model at 0.50: ₹18.4 Lakhs in undetected fraud losses per 1,000 claims.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Threshold-Optimized Platform: Losses reduced to ₹4.2 Lakhs (77% fraud savings).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Net Financial Savings: ~₹14.2 Lakhs per 1,000 processed claims.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FFFFFF"/>
                </a:solidFill>
              </a:defRPr>
            </a:pPr>
            <a:r>
              <a:t>Model Interpretability &amp; Explainable AI (XAI)</a:t>
            </a:r>
          </a:p>
          <a:p>
            <a:pPr>
              <a:defRPr sz="1100">
                <a:solidFill>
                  <a:srgbClr val="D69E2E"/>
                </a:solidFill>
              </a:defRPr>
            </a:pPr>
            <a:r>
              <a:t>Unpacking the Black Box with SHAP, LIME, and Counterfactuals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18096"/>
                </a:solidFill>
              </a:defRPr>
            </a:pPr>
            <a:r>
              <a:t>IIIT Dharwad | B.Tech Data Science &amp; AI | Adviser: Ramesh Athe | B Varshith, M Jagadeshwar, J Ganesh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38404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SHAP &amp; Feature Attributions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TreeExplainer &amp; DeepExplainer computing Shapley additive values.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Top Predictive Drivers: Treatment Cost Deviation, Claim-to-Premium Ratio, Hospital Rejection History.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Global summary plots validate that models utilize clinical signals rather than spurious proxies.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Local waterfall plots explain individual claim risk scores.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280160"/>
            <a:ext cx="38404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92040" y="137160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Counterfactual &amp; Attention Explanations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TabNet Attention Masks: Visualizes feature selection dynamics across sequential decision steps.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Counterfactual Generator: Identifies exact tariff revisions required for legitimate approval.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Example Action: 'Revising claimed billing from ₹2.65L to standard IRDAI schedule ₹1.15L removes fraud flag.'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Meets IRDAI regulatory explainability requirements.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FFFFFF"/>
                </a:solidFill>
              </a:defRPr>
            </a:pPr>
            <a:r>
              <a:t>Ethical AI, Fairness &amp; Demographic Parity</a:t>
            </a:r>
          </a:p>
          <a:p>
            <a:pPr>
              <a:defRPr sz="1100">
                <a:solidFill>
                  <a:srgbClr val="D69E2E"/>
                </a:solidFill>
              </a:defRPr>
            </a:pPr>
            <a:r>
              <a:t>Ensuring Non-Discriminatory Adjudication across Indian Demographics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18096"/>
                </a:solidFill>
              </a:defRPr>
            </a:pPr>
            <a:r>
              <a:t>IIIT Dharwad | B.Tech Data Science &amp; AI | Adviser: Ramesh Athe | B Varshith, M Jagadeshwar, J Ganesh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38404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Fairness Metrics across Protected Attributes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Gender Parity: Recall is 94.6% for Female claimants vs 95.0% for Male claimants (Δ &lt; 0.5%).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Age Groups: Evaluated across Young (&lt;30), Middle (30-55), and Senior Citizens (&gt;55).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Demographic Parity Ratio: 0.96 across all age brackets.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Equalized Odds: False Positive Rates within 1.2% across demographic groups.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280160"/>
            <a:ext cx="38404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92040" y="137160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Regional Equity &amp; Mitigation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Tested across 16 Indian states to prevent geographic prejudice against rural/Tier 3 claimants.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Tier-normalized baselines prevent rural clinics from being unfairly penalized.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Adversarial debiasing evaluated during tabular neural network training.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Full compliance with Indian Digital Personal Data Protection (DPDP) Act.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FFFFFF"/>
                </a:solidFill>
              </a:defRPr>
            </a:pPr>
            <a:r>
              <a:t>Full-Stack Deployment &amp; System Architecture</a:t>
            </a:r>
          </a:p>
          <a:p>
            <a:pPr>
              <a:defRPr sz="1100">
                <a:solidFill>
                  <a:srgbClr val="D69E2E"/>
                </a:solidFill>
              </a:defRPr>
            </a:pPr>
            <a:r>
              <a:t>Live Interactive Web Dashboard on 0.0.0.0:8000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18096"/>
                </a:solidFill>
              </a:defRPr>
            </a:pPr>
            <a:r>
              <a:t>IIIT Dharwad | B.Tech Data Science &amp; AI | Adviser: Ramesh Athe | B Varshith, M Jagadeshwar, J Ganesh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38404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Backend &amp; Database Infrastructure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FastAPI REST Server: High-throughput async endpoints for real-time inference.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SQLite Relational DB: 8 normalized tables storing Users, Policies, Claims, and Agent Audits.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RAG Vector Knowledge Store: BM25/TF-IDF dense indexing of IRDAI circulars and tariffs.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PyTorch &amp; Scikit-Learn Model Registry: Serialized .joblib and .pt pipelines.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280160"/>
            <a:ext cx="38404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92040" y="137160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Frontend User Experience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Claim Intake Wizard: Multi-step submission for claimants and TPA operators.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Real-Time Document Preview: Live OCR extraction and field confidence scores.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Animated Agent Tracker: Visual workflow execution of all 5 cognitive agents.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Bilingual Adjudication Report: English &amp; Hindi explanations with audit breakdown.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FFFFFF"/>
                </a:solidFill>
              </a:defRPr>
            </a:pPr>
            <a:r>
              <a:t>Comparative Strengths &amp; Approach Trade-offs</a:t>
            </a:r>
          </a:p>
          <a:p>
            <a:pPr>
              <a:defRPr sz="1100">
                <a:solidFill>
                  <a:srgbClr val="D69E2E"/>
                </a:solidFill>
              </a:defRPr>
            </a:pPr>
            <a:r>
              <a:t>Analyzing Computational Efficiency vs Cognitive Complexity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18096"/>
                </a:solidFill>
              </a:defRPr>
            </a:pPr>
            <a:r>
              <a:t>IIIT Dharwad | B.Tech Data Science &amp; AI | Adviser: Ramesh Athe | B Varshith, M Jagadeshwar, J Ganesh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38404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Approach Strengths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Traditional ML: Ultra-low latency (0.8 - 2.1 ms), minimal compute, highly deployable.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Deep Learning: Automatically extracts hierarchical feature interactions, top F2-score (0.957).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Agent AI: Full multi-modal document reasoning, bilingual natural language explanations, zero black-box opacity.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280160"/>
            <a:ext cx="38404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92040" y="137160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Limitations &amp; Considerations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ML: Requires extensive manual feature engineering; sensitive to distribution shift.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DL: Higher inference latency (3-5 ms) and requires GPU acceleration for large batch training.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Agent AI: Requires LLM API connectivity and strict prompt engineering to prevent hallucination.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FFFFFF"/>
                </a:solidFill>
              </a:defRPr>
            </a:pPr>
            <a:r>
              <a:t>Case Study Demonstrations</a:t>
            </a:r>
          </a:p>
          <a:p>
            <a:pPr>
              <a:defRPr sz="1100">
                <a:solidFill>
                  <a:srgbClr val="D69E2E"/>
                </a:solidFill>
              </a:defRPr>
            </a:pPr>
            <a:r>
              <a:t>Real-World Adjudication of Legitimate vs Fraudulent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18096"/>
                </a:solidFill>
              </a:defRPr>
            </a:pPr>
            <a:r>
              <a:t>IIIT Dharwad | B.Tech Data Science &amp; AI | Adviser: Ramesh Athe | B Varshith, M Jagadeshwar, J Ganesh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38404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6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Case 1: Legitimate Appendectomy (SDM Dharwad)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Claimant: Ramesh Kumar Patil (Age 54, Dharwad).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Claimed: ₹78,000 | 3 Stay Days | Tier 2 Multispecialty.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Agent Verification: Policy active 28 months (waiting period passed).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Verdict: APPROVED for ₹70,200 (10% co-payment applied).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Hindi explanation generated seamlessly.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280160"/>
            <a:ext cx="38404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38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92040" y="137160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Case 2: Inflated Billing (City Care Nursing Home)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Claimant: Vikram Aditya Sharma (Tier 3 Nursing Home).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Claimed: ₹2,65,000 for Appendectomy | 1 Stay Day.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Anomalies: 280% tariff inflation above Tier 3 ceiling; policy active only 2 months.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Verdict: REJECTED with IRDAI PED Waiting Period citation.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Full audit trail logged in SQLite.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FFFFFF"/>
                </a:solidFill>
              </a:defRPr>
            </a:pPr>
            <a:r>
              <a:t>Conclusions &amp; Research Takeaways</a:t>
            </a:r>
          </a:p>
          <a:p>
            <a:pPr>
              <a:defRPr sz="1100">
                <a:solidFill>
                  <a:srgbClr val="D69E2E"/>
                </a:solidFill>
              </a:defRPr>
            </a:pPr>
            <a:r>
              <a:t>Summary of Academic Contributions to Health Insurance Automation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18096"/>
                </a:solidFill>
              </a:defRPr>
            </a:pPr>
            <a:r>
              <a:t>IIIT Dharwad | B.Tech Data Science &amp; AI | Adviser: Ramesh Athe | B Varshith, M Jagadeshwar, J Ganesh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804672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7772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Core Research Conclusions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1. Tripartite Synergy: Combining classical ML, deep tabular networks, and multi-agent AI provides the most robust defense against medical fraud in India.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2. Performance Leader: Tabular FT-Transformer achieved the highest F2-score of 0.957 and AUC-ROC of 0.989, outperforming all baseline classifiers.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3. Financial Value: Threshold optimization tailored to the Indian Rupee cost matrix saves an estimated ₹14.2 Lakhs per 1,000 processed claims.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4. Regulatory Compliance: The multi-agent explainability layer satisfies IRDAI requirements for transparent, bilingual, evidence-backed claim rejection reasons.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5. Reproducibility: Complete single-command pipeline (`python run_pipeline.py`) ensures full experimental reproducibility.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FFFFFF"/>
                </a:solidFill>
              </a:defRPr>
            </a:pPr>
            <a:r>
              <a:t>Future Directions &amp; Production Roadmap</a:t>
            </a:r>
          </a:p>
          <a:p>
            <a:pPr>
              <a:defRPr sz="1100">
                <a:solidFill>
                  <a:srgbClr val="D69E2E"/>
                </a:solidFill>
              </a:defRPr>
            </a:pPr>
            <a:r>
              <a:t>Scaling from Academic Prototype to Enterprise Claim 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18096"/>
                </a:solidFill>
              </a:defRPr>
            </a:pPr>
            <a:r>
              <a:t>IIIT Dharwad | B.Tech Data Science &amp; AI | Adviser: Ramesh Athe | B Varshith, M Jagadeshwar, J Ganesh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38404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Technological Advancements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Graph Neural Networks (GNNs): Modeling multi-hospital and physician collusion networks as dynamic heterogeneous graphs.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Edge VLM Deployment: Quantized local Vision-Language Models for offline hospital tablet claims.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Federated Learning: Collaborative fraud detection across competing insurers without sharing private claimant records.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280160"/>
            <a:ext cx="38404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92040" y="1371600"/>
            <a:ext cx="35661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Clinical &amp; Regulatory Enhancements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Direct integration with Ayushman Bharat Digital Mission (ABDM) electronic health records.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Automated lab report verification directly from NABL accredited pathology APIs.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Expanded multi-language coverage across 12 official Indian regional languages.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FFFFFF"/>
                </a:solidFill>
              </a:defRPr>
            </a:pPr>
            <a:r>
              <a:t>Selected Academic References</a:t>
            </a:r>
          </a:p>
          <a:p>
            <a:pPr>
              <a:defRPr sz="1100">
                <a:solidFill>
                  <a:srgbClr val="D69E2E"/>
                </a:solidFill>
              </a:defRPr>
            </a:pPr>
            <a:r>
              <a:t>Foundational Literature in Insurance Fraud Detection &amp; Tabular Deep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18096"/>
                </a:solidFill>
              </a:defRPr>
            </a:pPr>
            <a:r>
              <a:t>IIIT Dharwad | B.Tech Data Science &amp; AI | Adviser: Ramesh Athe | B Varshith, M Jagadeshwar, J Ganesh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804672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7772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A365D"/>
                </a:solidFill>
              </a:defRPr>
            </a:pPr>
            <a:r>
              <a:t>Peer-Reviewed References (IEEE &amp; ACM)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[1] Y. Gorokhova et al., 'Tabular Data: Deep Learning is Not All You Need,' NeurIPS, 2022.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[2] S. O. Arik and T. Pfister, 'TabNet: Attentive Interpretable Tabular Learning,' AAAI, vol. 35, 2021.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[3] Y. Borisov et al., 'Deep Neural Networks and Tabular Data: A Survey,' IEEE TNNLS, 2022.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[4] S. M. Lundberg and S.-I. Lee, 'A Unified Approach to Interpreting Model Predictions,' NeurIPS, 2017.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[5] Insurance Regulatory and Development Authority of India (IRDAI), 'Master Circular on Health Insurance,' 2020.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[6] T. Chen and C. Guestrin, 'XGBoost: A Scalable Tree Boosting System,' ACM SIGKDD, 2016.</a:t>
            </a:r>
          </a:p>
          <a:p>
            <a:pPr>
              <a:spcAft>
                <a:spcPts val="400"/>
              </a:spcAft>
              <a:defRPr sz="1050">
                <a:solidFill>
                  <a:srgbClr val="2D3748"/>
                </a:solidFill>
              </a:defRPr>
            </a:pPr>
            <a:r>
              <a:t>• [7] T.-Y. Lin et al., 'Focal Loss for Dense Object Detection,' IEEE TPAMI, 2020.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3600">
                <a:solidFill>
                  <a:srgbClr val="FFFFFF"/>
                </a:solidFill>
              </a:defRPr>
            </a:pPr>
            <a:r>
              <a:t>Thank You!</a:t>
            </a:r>
          </a:p>
          <a:p>
            <a:pPr algn="ctr">
              <a:spcBef>
                <a:spcPts val="1000"/>
              </a:spcBef>
              <a:defRPr sz="2000">
                <a:solidFill>
                  <a:srgbClr val="D69E2E"/>
                </a:solidFill>
              </a:defRPr>
            </a:pPr>
            <a:r>
              <a:t>Questions &amp; Academic Discussion</a:t>
            </a:r>
          </a:p>
          <a:p>
            <a:pPr algn="ctr">
              <a:spcBef>
                <a:spcPts val="2500"/>
              </a:spcBef>
              <a:defRPr sz="1300">
                <a:solidFill>
                  <a:srgbClr val="E2E8F0"/>
                </a:solidFill>
              </a:defRPr>
            </a:pPr>
            <a:r>
              <a:t>Special thanks to our Faculty Adviser Prof. Ramesh Athe for invaluable guidance.</a:t>
            </a:r>
            <a:br/>
            <a:r>
              <a:t>Indian Institute of Information Technology (IIIT), Dharwad</a:t>
            </a:r>
            <a:br/>
            <a:r>
              <a:t>Department of Data Science &amp; Artificial Intelligence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