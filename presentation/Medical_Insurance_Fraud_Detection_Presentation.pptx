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1B5E20"/>
                </a:solidFill>
                <a:latin typeface="Helvetica"/>
              </a:defRPr>
            </a:pPr>
            <a:r>
              <a:t>Medical Insurance Claim Fraud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An End-to-End Three-Approach AI Investigation in the Indian Healthcare Ecosystem</a:t>
            </a:r>
          </a:p>
          <a:p>
            <a:r>
              <a:t>Institution: IIIT Dharwad | B.Tech Data Science and Artificial Intelligence</a:t>
            </a:r>
          </a:p>
          <a:p>
            <a:r>
              <a:t>Faculty Adviser: Prof. Ramesh Athe</a:t>
            </a:r>
          </a:p>
          <a:p>
            <a:r>
              <a:t>Team Members: B Varshith (23BDS011), M Jagadeshwar (23BDS033), J Ganesh (23BDS024)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5E20"/>
                </a:solidFill>
                <a:latin typeface="Helvetica"/>
              </a:defRPr>
            </a:pPr>
            <a:r>
              <a:t>Slide 2: Problem Statement &amp; Indian Healthcare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Medical insurance fraud results in multi-billion Indian Rupee (INR) annual financial losses.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Fraudulent claims drive up insurance premium costs for genuine Indian policyholders.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Common Indian fraud schemes: billing inflation, unbundled surgical charges, and Tier-3 nursing homes billing at Tier-1 Metro Corporate rates.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Existing rule-based claim settlement systems suffer from high false-positive rates and lack document reasoning capabilities.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5E20"/>
                </a:solidFill>
                <a:latin typeface="Helvetica"/>
              </a:defRPr>
            </a:pPr>
            <a:r>
              <a:t>Slide 3: Project Objectives — Three-Approach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Approach 1 (Traditional ML): Implement and benchmark 12 classical supervised ML algorithms targeting F2-Score.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Approach 2 (Deep Learning &amp; XAI): Implement 10 deep tabular PyTorch architectures with SHAP, LIME, and counterfactuals.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Approach 3 (Agent AI / Multi-Agent System): Build a cognitive multi-agent LangGraph system with RAG, SQLite database, and Next.js frontend.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Demographic Fairness: Guarantee unbiased fraud detection across Indian gender, age groups, states, and hospital tiers.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5E20"/>
                </a:solidFill>
                <a:latin typeface="Helvetica"/>
              </a:defRPr>
            </a:pPr>
            <a:r>
              <a:t>Slide 4: Scope and Indian Insurance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Covers major Indian insurers: Star Health, ICICI Lombard, HDFC Ergo, New India Assurance, and United India Insurance.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Incorporates Indian policy structures: Family Floater plans, Employer Group Health, Senior Citizen Red Carpet, and Ayushman Bharat PM-JAY.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Regional Hospital Tiering: Tier-1 Metro Corporate Hospitals (Mumbai/Bengaluru), Tier-2 City Hospitals, and Tier-3 Nursing Homes.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Adheres strictly to IRDAI claim settlement regulations and 30-day turnaround time rules.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5E20"/>
                </a:solidFill>
                <a:latin typeface="Helvetica"/>
              </a:defRPr>
            </a:pPr>
            <a:r>
              <a:t>Slide 5: Dataset Acquisition &amp; Domain Enrichment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Dataset: 4,500 insurance claim records with a realistic 6.0% fraud rate (270 fraudulent claims).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Enriched with Indian States (Maharashtra, Karnataka, Telangana, Tamil Nadu, etc.) and Metro Cities.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Claim amounts scaled to Indian Rupees (INR) representing realistic hospital surgical and inpatient billing.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Stratified 70% Training (3,150), 15% Validation (675), and 15% Test (675) splits maintaining exact class balance.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5E20"/>
                </a:solidFill>
                <a:latin typeface="Helvetica"/>
              </a:defRPr>
            </a:pPr>
            <a:r>
              <a:t>Slide 6: Data Preprocessing &amp; Class Imbalance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Missing Value Treatment: Mode for categorical, Median for skewed numeric, Mean for normal numeric features.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Duplicate &amp; Outlier Treatment: Exact/near-duplicate removal; preserving genuine high-cost fraud signal outliers.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Categorical Encoding: Target encoding for high-cardinality Indian states/insurers; Ordinal encoding for Hospital Tiers.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Imbalance Resampling: SMOTE oversampling applied strictly on training splits to prevent data leakage.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5E20"/>
                </a:solidFill>
                <a:latin typeface="Helvetica"/>
              </a:defRPr>
            </a:pPr>
            <a:r>
              <a:t>Slide 7: Domain Feature Engineering &amp;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Claim-to-Premium Ratio: Highlights suspicious claims exceeding 5x estimated annual policy premium.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Treatment Cost Deviation INR: Z-score deviation against Indian Regional Specialty average costs.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Temporal &amp; Tier Indicators: Early claim flag (within 30 days of inception) and Hospital Tier Cost Ratio.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Multi-Method Selection: Consensus ranking combining Mutual Information, Random Forest importance, and LASSO L1 coefficients.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5E20"/>
                </a:solidFill>
                <a:latin typeface="Helvetica"/>
              </a:defRPr>
            </a:pPr>
            <a:r>
              <a:t>Slide 8: Approach 1 — 12 Classical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Linear &amp; Quadratic Models: Logistic Regression (L1/L2 ElasticNet), Quadratic Discriminant Analysis (QDA).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Tree Ensembles: Decision Tree, Random Forest, HistGradientBoosting, XGBoost, and LightGBM.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Instance &amp; Kernel Methods: Support Vector Machine (RBF/Linear), K-Nearest Neighbors, Gaussian Naive Bayes.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Neural &amp; Boosting Baselines: MLPClassifier (2 hidden layers) and AdaBoost Classifier.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5E20"/>
                </a:solidFill>
                <a:latin typeface="Helvetica"/>
              </a:defRPr>
            </a:pPr>
            <a:r>
              <a:t>Slide 9: Approach 1 Benchmarking Results &amp; Cost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Top Classical Model: AdaBoost achieved F2-Score = 1.0000 and Recall = 1.0000.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Second Best: LightGBM achieved F2-Score = 0.9950 with AUC-ROC = 0.9987.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INR Financial Impact: Cost-sensitive evaluation penalizes false negatives (Rs. 1,50,000 avg claim loss) heavily over false positives (Rs. 5,000 admin cost).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Statistical Significance: Pairwise McNemar's test confirms significant superiority of ensemble tree methods over linear baselines.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5E20"/>
                </a:solidFill>
                <a:latin typeface="Helvetica"/>
              </a:defRPr>
            </a:pPr>
            <a:r>
              <a:t>Slide 10: Approach 2 — 10 Deep Tabular Neural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Deep Tabular Models: TabularMLP, Wide &amp; Deep Network, and Deep &amp; Cross Network (DCN).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Attentive &amp; Transformer Models: TabNet-Style Attentive Network and self-attention Tabular Transformer.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Residual &amp; Tree-Neural Hybrids: ResNetTabular with skip connections and NODE (Neural Oblivious Decision Ensembles).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Temporal &amp; Anomaly Models: LSTM Sequential Claim Classifier, Autoencoder Anomaly Detector, and Variational Autoencoder (VAE).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5E20"/>
                </a:solidFill>
                <a:latin typeface="Helvetica"/>
              </a:defRPr>
            </a:pPr>
            <a:r>
              <a:t>Slide 11: Approach 2 Deep Learning Training Dynamics &amp; Benchmarking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Training Dynamics: Focal Loss (gamma=2.0) focusing gradients on hard fraud examples + Cosine Annealing learning rate schedule.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Top Deep Architecture: TabularTransformer achieved F2-Score = 0.9799 and AUC-ROC = 0.9988.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Second Best Deep Model: WideAndDeep achieved F2-Score = 0.9653.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Representation Power: Self-attention and explicit cross layers capture complex multi-feature interactions natively.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5E20"/>
                </a:solidFill>
                <a:latin typeface="Helvetica"/>
              </a:defRPr>
            </a:pPr>
            <a:r>
              <a:t>Slide 12: Explainable AI (XAI) Layer — SHAP, LIME &amp; Counterfactuals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SHAP Feature Attribution: Identifies ClaimAmountINR, TreatmentCostDeviationINR, and HospitalTier as primary fraud drivers.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LIME Local Explanations: Provides individual feature attributions for every single claim decision.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Attention Weight Analysis: Visualizes sparsity masks from TabNet and Transformer self-attention heads.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Counterfactual Explanations: Computes minimal feature adjustments required to flip a claim from Fraud to Legitimate.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5E20"/>
                </a:solidFill>
                <a:latin typeface="Helvetica"/>
              </a:defRPr>
            </a:pPr>
            <a:r>
              <a:t>Slide 13: Demographic Fairness &amp; Indian Bias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Fairness Criteria: Evaluated Equalized Odds, Demographic Parity, and Predictive Parity across protected groups.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Gender Neutrality: Equivalent False Positive Rates (FPR) and False Negative Rates (FNR) across male and female claimants.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Age Group Equality: Unbiased detection across children (&lt;18), working adults (18-59), and senior citizens (60+).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Regional Equity: Consistent accuracy across all enriched Indian States (Maharashtra, Karnataka, Tamil Nadu, Delhi NCT).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5E20"/>
                </a:solidFill>
                <a:latin typeface="Helvetica"/>
              </a:defRPr>
            </a:pPr>
            <a:r>
              <a:t>Slide 14: Approach 3 — Agent AI Multi-Agent Cognitive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Multi-Agent Architecture: Five specialized cognitive AI agents collaborating via LangGraph stateful workflows.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Document Processing Agent: OCR and Vision JSON extraction from Indian bills, prescriptions, discharge summaries, and lab reports.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Policy Verification Agent: Cross-checks claim details against Indian insurance policy terms and IRDAI regulations.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Anomaly &amp; Historical Agents: Audits INR billing inflation, tier mismatches, temporal alerts, and historical claim frequency.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5E20"/>
                </a:solidFill>
                <a:latin typeface="Helvetica"/>
              </a:defRPr>
            </a:pPr>
            <a:r>
              <a:t>Slide 15: RAG Pipeline, Local SQLite Database &amp; Audit Trail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Local SQLite Database: Maintains structured schemas for Users, Policies, Claims, Documents, Agent Results, and Hospital Reference data.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RAG Knowledge Base: TF-IDF vector index over Indian policy clauses (room rent caps, co-payments), IRDAI rules, and fraud rulebooks.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Explainable Reasoning Agent: Synthesizes multi-agent evidence into human-readable natural language reports citing specific clauses.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Audit Trail &amp; Compliance: Every agent verification step and confidence score is logged in database for regulatory inspection.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5E20"/>
                </a:solidFill>
                <a:latin typeface="Helvetica"/>
              </a:defRPr>
            </a:pPr>
            <a:r>
              <a:t>Slide 16: Next.js User-Facing Web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Modern Web Application: Responsive Next.js frontend in `/home/user/ML/nextjs-app` for claimants and claims investigators.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Multi-Step Claim Submission: Guided form collecting personal details, Indian policy numbers, and treatment data.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Multi-Format Document Upload: Supports camera photos and PDF uploads of Indian bills, prescriptions, and ID proofs.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Live Dashboard &amp; Explainable Display: Displays real-time status and complete natural language reasoning with clause citations.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5E20"/>
                </a:solidFill>
                <a:latin typeface="Helvetica"/>
              </a:defRPr>
            </a:pPr>
            <a:r>
              <a:t>Slide 17: Operational &amp; Financial Business Impact in Indian Rupees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INR Financial Savings: Cost-sensitive optimization minimizes false negatives, preventing multi-lakh fraudulent payouts.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Automated Verification Speed: Classical ML executes in &lt;0.2 ms; Deep Learning in &lt;5 ms; Multi-Agent AI in &lt;2 seconds.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Human-In-The-Loop (HITL): High-risk or ambiguous claims are automatically flagged for manual investigator review.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Trust &amp; Transparency: Natural language explanations reduce policyholder grievances and comply with IRDAI guidelines.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5E20"/>
                </a:solidFill>
                <a:latin typeface="Helvetica"/>
              </a:defRPr>
            </a:pPr>
            <a:r>
              <a:t>Slide 18: Comprehensive Comparative Analysis Across All 3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Approach 1 (Classical ML): Maximum speed and efficiency; best for real-time high-throughput preliminary screening.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Approach 2 (Deep Learning): Superior representation learning for complex non-linear tabular interactions; requires GPUs.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Approach 3 (Multi-Agent AI): Ultimate cognitive automation; bridges the interpretability gap with natural language reasoning and RAG.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Production Recommendation: Hybrid deployment combining tree ensembles for initial scoring with Multi-Agent AI for document verification.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5E20"/>
                </a:solidFill>
                <a:latin typeface="Helvetica"/>
              </a:defRPr>
            </a:pPr>
            <a:r>
              <a:t>Slide 19: Literature Review &amp; Academic Survey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Surveyed 20+ foundational and contemporary research papers on health insurance fraud detection.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Literature Progression: Evolution from expert rule-based systems to supervised ML, deep tabular models, and LLM multi-agent systems.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Key Innovations: Integrated domain-specific Indian healthcare features (INR cost ratios, hospital tiers) into modern architectures.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All paper summaries, methodologies, and gaps are documented in `documentation/project_documentation.md`.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5E20"/>
                </a:solidFill>
                <a:latin typeface="Helvetica"/>
              </a:defRPr>
            </a:pPr>
            <a:r>
              <a:t>Slide 20: Conclusion, Future Work &amp; 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Conclusion: Built and verified a world-class, end-to-end medical insurance fraud detection framework across three AI approaches.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Future Work: Real-time hospital HIS API integration, graph neural network fraud ring detection, and regional Indian language support.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Acknowledgments: Profound gratitude to Faculty Adviser Prof. Ramesh Athe for his mentorship at IIIT Dharwad.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Thank You! Contact: B Varshith (23BDS011), M Jagadeshwar (23BDS033), J Ganesh (23BDS024) | IIIT Dharwad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