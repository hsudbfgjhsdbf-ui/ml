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1078992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"/>
              </a:rPr>
              <a:t>Medical Insurance Claim
Fraud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514600"/>
            <a:ext cx="10058400" cy="457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700" b="0">
                <a:solidFill>
                  <a:srgbClr val="E9C46A"/>
                </a:solidFill>
                <a:latin typeface="Aptos"/>
              </a:rPr>
              <a:t>Approach 1 • Traditional machine learning with leakage-aware benchmarking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749039"/>
            <a:ext cx="9418320" cy="8686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700" b="0">
                <a:solidFill>
                  <a:srgbClr val="F0F4F8"/>
                </a:solidFill>
                <a:latin typeface="Aptos"/>
              </a:rPr>
              <a:t>B Varshith  •  M Jagadeshwar  •  J Ganesh
IIIT Dharwad • Department of Data Science and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74920"/>
            <a:ext cx="8503920" cy="457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Faculty Adviser: Prof. Ramesh Athe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5897880"/>
            <a:ext cx="8138160" cy="2560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900" b="0">
                <a:solidFill>
                  <a:srgbClr val="BED2E1"/>
                </a:solidFill>
                <a:latin typeface="Aptos"/>
              </a:rPr>
              <a:t>Run run_20260807_151423 • 07-08-2026 15:14:23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43891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The problem in one decision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32104"/>
            <a:ext cx="9144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789920" cy="2560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486581"/>
                </a:solidFill>
                <a:latin typeface="Aptos"/>
              </a:rPr>
              <a:t>A binary classifier with an asymmetric operational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0">
                <a:solidFill>
                  <a:srgbClr val="486581"/>
                </a:solidFill>
                <a:latin typeface="Aptos"/>
              </a:rPr>
              <a:t>IIIT Dharwad • Traditional ML baseline • Prof. Ramesh Athe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789920" cy="4480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Input: structured claim fields available at screening time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Output: fraud probability plus yes/no fraud label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False negative: fraudulent payment may create financial loss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False positive: legitimate policyholder may face delay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Responsible use: approve, flag, or reject only after policy and human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43891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Objectives and success criteria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32104"/>
            <a:ext cx="9144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789920" cy="2560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486581"/>
                </a:solidFill>
                <a:latin typeface="Aptos"/>
              </a:rPr>
              <a:t>Pre-registered before model fitting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0">
                <a:solidFill>
                  <a:srgbClr val="486581"/>
                </a:solidFill>
                <a:latin typeface="Aptos"/>
              </a:rPr>
              <a:t>IIIT Dharwad • Traditional ML baseline • Prof. Ramesh Athe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789920" cy="4480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Use the supplied workbook: 4,500 claims and 6.0% fraud prevalence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Create a reproducible 70/15/15 stratified split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Fit all transformations on training data only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Benchmark 20 classical baselines and ensembles under one protocol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Select one model by validation F2, then PR-AUC tie-breaker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Generate explainability, fairness, PPT, project PDF, and IEEE paper artifacts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43891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Dataset snapshot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32104"/>
            <a:ext cx="9144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789920" cy="2560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486581"/>
                </a:solidFill>
                <a:latin typeface="Aptos"/>
              </a:rPr>
              <a:t>Repository-provided Excel workbook • provenance limitation recorded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0">
                <a:solidFill>
                  <a:srgbClr val="486581"/>
                </a:solidFill>
                <a:latin typeface="Aptos"/>
              </a:rPr>
              <a:t>IIIT Dharwad • Traditional ML baseline • Prof. Ramesh Athe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5120640" cy="34747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700" b="1">
                <a:solidFill>
                  <a:srgbClr val="E76F51"/>
                </a:solidFill>
                <a:latin typeface="Aptos"/>
              </a:rPr>
              <a:t>4,500
claims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17320"/>
            <a:ext cx="5120640" cy="34747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700" b="1">
                <a:solidFill>
                  <a:srgbClr val="2A9D8F"/>
                </a:solidFill>
                <a:latin typeface="Aptos"/>
              </a:rPr>
              <a:t>6.0%
fraud prevalence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515600" cy="6400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500" b="0">
                <a:solidFill>
                  <a:srgbClr val="102A43"/>
                </a:solidFill>
                <a:latin typeface="Aptos"/>
              </a:rPr>
              <a:t>Mixed numeric and categorical claim fields • no verified policy, hospital-tier, or Indian geography fields • no real patient identifiers observed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43891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Class imbalance changes the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32104"/>
            <a:ext cx="9144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789920" cy="2560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486581"/>
                </a:solidFill>
                <a:latin typeface="Aptos"/>
              </a:rPr>
              <a:t>Fraud is the positive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0">
                <a:solidFill>
                  <a:srgbClr val="486581"/>
                </a:solidFill>
                <a:latin typeface="Aptos"/>
              </a:rPr>
              <a:t>IIIT Dharwad • Traditional ML baseline • Prof. Ramesh Athe</a:t>
            </a:r>
          </a:p>
        </p:txBody>
      </p:sp>
      <p:pic>
        <p:nvPicPr>
          <p:cNvPr id="6" name="Picture 5" descr="target_distributio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99747"/>
            <a:ext cx="5577840" cy="31499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1508760"/>
            <a:ext cx="4937760" cy="347472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102A43"/>
                </a:solidFill>
                <a:latin typeface="Aptos"/>
              </a:defRPr>
            </a:pPr>
            <a:r>
              <a:t>Accuracy can look strong when a model predicts legitimate for everyone</a:t>
            </a:r>
          </a:p>
          <a:p>
            <a:pPr>
              <a:spcAft>
                <a:spcPts val="1100"/>
              </a:spcAft>
              <a:defRPr sz="1600">
                <a:solidFill>
                  <a:srgbClr val="102A43"/>
                </a:solidFill>
                <a:latin typeface="Aptos"/>
              </a:defRPr>
            </a:pPr>
            <a:r>
              <a:t>F2 weights recall more heavily than F1</a:t>
            </a:r>
          </a:p>
          <a:p>
            <a:pPr>
              <a:spcAft>
                <a:spcPts val="1100"/>
              </a:spcAft>
              <a:defRPr sz="1600">
                <a:solidFill>
                  <a:srgbClr val="102A43"/>
                </a:solidFill>
                <a:latin typeface="Aptos"/>
              </a:defRPr>
            </a:pPr>
            <a:r>
              <a:t>PR-AUC is the headline ranking companion</a:t>
            </a:r>
          </a:p>
          <a:p>
            <a:pPr>
              <a:spcAft>
                <a:spcPts val="1100"/>
              </a:spcAft>
              <a:defRPr sz="1600">
                <a:solidFill>
                  <a:srgbClr val="102A43"/>
                </a:solidFill>
                <a:latin typeface="Aptos"/>
              </a:defRPr>
            </a:pPr>
            <a:r>
              <a:t>Threshold selection is separated from test evaluation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43891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Data-quality and leakage gates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32104"/>
            <a:ext cx="9144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789920" cy="2560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486581"/>
                </a:solidFill>
                <a:latin typeface="Aptos"/>
              </a:rPr>
              <a:t>The pipeline fails loudly rather than hiding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0">
                <a:solidFill>
                  <a:srgbClr val="486581"/>
                </a:solidFill>
                <a:latin typeface="Aptos"/>
              </a:rPr>
              <a:t>IIIT Dharwad • Traditional ML baseline • Prof. Ramesh Athe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789920" cy="4480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Schema and target labels validated before EDA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ClaimID uniqueness and missingness are profiled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IDs and near-unique code/location fields excluded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ClaimStatus excluded because it can be post-decision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Imputation, one-hot encoding, and scaling fit on train only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Validation and test use frozen transformation state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43891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Feature engineering for screening-time signals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32104"/>
            <a:ext cx="9144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789920" cy="2560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486581"/>
                </a:solidFill>
                <a:latin typeface="Aptos"/>
              </a:rPr>
              <a:t>Transformations are documented and reproducible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0">
                <a:solidFill>
                  <a:srgbClr val="486581"/>
                </a:solidFill>
                <a:latin typeface="Aptos"/>
              </a:rPr>
              <a:t>IIIT Dharwad • Traditional ML baseline • Prof. Ramesh Athe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789920" cy="4480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Financial: log claim amount, log income, claim-to-income ratio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Temporal: year, month, weekday, weekend, cyclic month terms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Interactions: amount per age and income per age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Categorical: specialty, claim type, submission method, demographics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Shortcut audit: supplied Cluster retained but reviewed for concentration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43891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Reproducible pipeline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32104"/>
            <a:ext cx="9144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789920" cy="2560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486581"/>
                </a:solidFill>
                <a:latin typeface="Aptos"/>
              </a:rPr>
              <a:t>Raw workbook → feature matrix → evidence pack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0">
                <a:solidFill>
                  <a:srgbClr val="486581"/>
                </a:solidFill>
                <a:latin typeface="Aptos"/>
              </a:rPr>
              <a:t>IIIT Dharwad • Traditional ML baseline • Prof. Ramesh Athe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1143000" cy="96012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" y="2267712"/>
            <a:ext cx="1033271" cy="685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Load
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31720"/>
            <a:ext cx="32004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100" b="1">
                <a:solidFill>
                  <a:srgbClr val="486581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47672" y="2148840"/>
            <a:ext cx="1143000" cy="96012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02536" y="2267712"/>
            <a:ext cx="1033271" cy="685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Engineer
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331720"/>
            <a:ext cx="32004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100" b="1">
                <a:solidFill>
                  <a:srgbClr val="486581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2424" y="2148840"/>
            <a:ext cx="1143000" cy="96012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2267712"/>
            <a:ext cx="1033271" cy="685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Split
70/15/15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331720"/>
            <a:ext cx="32004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100" b="1">
                <a:solidFill>
                  <a:srgbClr val="486581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37176" y="2148840"/>
            <a:ext cx="1143000" cy="96012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2267712"/>
            <a:ext cx="1033271" cy="685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Fit
transformer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0176" y="2331720"/>
            <a:ext cx="32004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100" b="1">
                <a:solidFill>
                  <a:srgbClr val="486581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1928" y="2148840"/>
            <a:ext cx="1143000" cy="960120"/>
          </a:xfrm>
          <a:prstGeom prst="roundRect">
            <a:avLst/>
          </a:prstGeom>
          <a:solidFill>
            <a:srgbClr val="E76F51"/>
          </a:solidFill>
          <a:ln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2267712"/>
            <a:ext cx="1033271" cy="685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Train
model zoo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928" y="2331720"/>
            <a:ext cx="32004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100" b="1">
                <a:solidFill>
                  <a:srgbClr val="486581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80" y="2148840"/>
            <a:ext cx="1143000" cy="960120"/>
          </a:xfrm>
          <a:prstGeom prst="roundRect">
            <a:avLst/>
          </a:prstGeom>
          <a:solidFill>
            <a:srgbClr val="E76F51"/>
          </a:solidFill>
          <a:ln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81544" y="2267712"/>
            <a:ext cx="1033271" cy="685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Select
threshold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331720"/>
            <a:ext cx="32004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100" b="1">
                <a:solidFill>
                  <a:srgbClr val="486581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71432" y="2148840"/>
            <a:ext cx="1143000" cy="960120"/>
          </a:xfrm>
          <a:prstGeom prst="roundRect">
            <a:avLst/>
          </a:prstGeom>
          <a:solidFill>
            <a:srgbClr val="E76F51"/>
          </a:solidFill>
          <a:ln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26296" y="2267712"/>
            <a:ext cx="1033271" cy="685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Lock
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14432" y="2331720"/>
            <a:ext cx="32004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100" b="1">
                <a:solidFill>
                  <a:srgbClr val="486581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616184" y="2148840"/>
            <a:ext cx="1143000" cy="960120"/>
          </a:xfrm>
          <a:prstGeom prst="round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71048" y="2267712"/>
            <a:ext cx="1033271" cy="685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Build
reports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3931920"/>
            <a:ext cx="10424160" cy="9144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800" b="0">
                <a:solidFill>
                  <a:srgbClr val="102A43"/>
                </a:solidFill>
                <a:latin typeface="Aptos"/>
              </a:rPr>
              <a:t>Every stage leaves a machine-readable artifact and a human-readable explanation. The final PPT and PDFs are generated from the run artifacts, not hand-edited tables.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43891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Model zoo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32104"/>
            <a:ext cx="9144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789920" cy="2560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486581"/>
                </a:solidFill>
                <a:latin typeface="Aptos"/>
              </a:rPr>
              <a:t>Diverse families, equal data and metric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0">
                <a:solidFill>
                  <a:srgbClr val="486581"/>
                </a:solidFill>
                <a:latin typeface="Aptos"/>
              </a:rPr>
              <a:t>IIIT Dharwad • Traditional ML baseline • Prof. Ramesh Athe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789920" cy="4480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Linear: logistic L1/L2, ridge, passive-aggressive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Trees and ensembles: decision tree, random forest, extra trees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Boosting: gradient, histogram gradient, AdaBoost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Probabilistic and geometric: NB, LDA/QDA, KNN, RBF-SVM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Neural and ensemble references: MLP, voting, stacking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Optional external boosters remain documented as future adapters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43891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Hyperparameter search discipline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32104"/>
            <a:ext cx="9144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789920" cy="2560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486581"/>
                </a:solidFill>
                <a:latin typeface="Aptos"/>
              </a:rPr>
              <a:t>Small, explicit, laptop-friendly budgets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0">
                <a:solidFill>
                  <a:srgbClr val="486581"/>
                </a:solidFill>
                <a:latin typeface="Aptos"/>
              </a:rPr>
              <a:t>IIIT Dharwad • Traditional ML baseline • Prof. Ramesh Athe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789920" cy="4480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Search scoring: stratified three-fold average precision on training rows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Grid or randomized search is declared per model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All stochastic estimators receive seed 42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Failed fits remain visible with status and error reason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Best validation threshold maximizes F2 with precision floor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Test labels do not steer search or threshold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43891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Validation leaderboard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32104"/>
            <a:ext cx="9144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789920" cy="2560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486581"/>
                </a:solidFill>
                <a:latin typeface="Aptos"/>
              </a:rPr>
              <a:t>Top models under the frozen selection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0">
                <a:solidFill>
                  <a:srgbClr val="486581"/>
                </a:solidFill>
                <a:latin typeface="Aptos"/>
              </a:rPr>
              <a:t>IIIT Dharwad • Traditional ML baseline • Prof. Ramesh Athe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899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4572000"/>
                <a:gridCol w="1828800"/>
                <a:gridCol w="2011680"/>
                <a:gridCol w="1645920"/>
              </a:tblGrid>
              <a:tr h="53721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 F2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 PR-AUC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Train s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B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EB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EB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EB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3.22</a:t>
                      </a:r>
                    </a:p>
                  </a:txBody>
                  <a:tcPr>
                    <a:solidFill>
                      <a:srgbClr val="EBF7F5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6.83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B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Histogram gradient boost</a:t>
                      </a:r>
                    </a:p>
                  </a:txBody>
                  <a:tcPr>
                    <a:solidFill>
                      <a:srgbClr val="EB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EB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EB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1.13</a:t>
                      </a:r>
                    </a:p>
                  </a:txBody>
                  <a:tcPr>
                    <a:solidFill>
                      <a:srgbClr val="EBF7F5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AdaBoost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4.52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B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Soft voting ensemble</a:t>
                      </a:r>
                    </a:p>
                  </a:txBody>
                  <a:tcPr>
                    <a:solidFill>
                      <a:srgbClr val="EB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EB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EB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0.46</a:t>
                      </a:r>
                    </a:p>
                  </a:txBody>
                  <a:tcPr>
                    <a:solidFill>
                      <a:srgbClr val="EBF7F5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Stacking ensemble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1.26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B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Support vector machine (</a:t>
                      </a:r>
                    </a:p>
                  </a:txBody>
                  <a:tcPr>
                    <a:solidFill>
                      <a:srgbClr val="EB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0.9804</a:t>
                      </a:r>
                    </a:p>
                  </a:txBody>
                  <a:tcPr>
                    <a:solidFill>
                      <a:srgbClr val="EB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0.9820</a:t>
                      </a:r>
                    </a:p>
                  </a:txBody>
                  <a:tcPr>
                    <a:solidFill>
                      <a:srgbClr val="EB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1.29</a:t>
                      </a:r>
                    </a:p>
                  </a:txBody>
                  <a:tcPr>
                    <a:solidFill>
                      <a:srgbClr val="EB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43891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Winner spotlight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32104"/>
            <a:ext cx="9144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789920" cy="2560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486581"/>
                </a:solidFill>
                <a:latin typeface="Aptos"/>
              </a:rPr>
              <a:t>Soft voting ensemble • validation-selected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0">
                <a:solidFill>
                  <a:srgbClr val="486581"/>
                </a:solidFill>
                <a:latin typeface="Aptos"/>
              </a:rPr>
              <a:t>IIIT Dharwad • Traditional ML baseline • Prof. Ramesh Athe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5120640" cy="8229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700" b="1">
                <a:solidFill>
                  <a:srgbClr val="E76F51"/>
                </a:solidFill>
                <a:latin typeface="Aptos"/>
              </a:rPr>
              <a:t>Soft voting ensemble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25880"/>
            <a:ext cx="4754880" cy="411480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Validation F2: 1.0000</a:t>
            </a:r>
          </a:p>
          <a:p>
            <a:pPr>
              <a:spcAft>
                <a:spcPts val="11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Validation PR-AUC: 1.0000</a:t>
            </a:r>
          </a:p>
          <a:p>
            <a:pPr>
              <a:spcAft>
                <a:spcPts val="11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Validation ROC-AUC: 1.0000</a:t>
            </a:r>
          </a:p>
          <a:p>
            <a:pPr>
              <a:spcAft>
                <a:spcPts val="11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Operating threshold: 0.4900</a:t>
            </a:r>
          </a:p>
          <a:p>
            <a:pPr>
              <a:spcAft>
                <a:spcPts val="11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Final refit: train plus validation; test remains locked until this decision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43891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Operating threshold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32104"/>
            <a:ext cx="9144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789920" cy="2560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486581"/>
                </a:solidFill>
                <a:latin typeface="Aptos"/>
              </a:rPr>
              <a:t>Probability becomes a triage action, not an automatic verdict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0">
                <a:solidFill>
                  <a:srgbClr val="486581"/>
                </a:solidFill>
                <a:latin typeface="Aptos"/>
              </a:rPr>
              <a:t>IIIT Dharwad • Traditional ML baseline • Prof. Ramesh Athe</a:t>
            </a:r>
          </a:p>
        </p:txBody>
      </p:sp>
      <p:pic>
        <p:nvPicPr>
          <p:cNvPr id="6" name="Picture 5" descr="threshold_sweep_w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56994"/>
            <a:ext cx="5943600" cy="36811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66560" y="1508760"/>
            <a:ext cx="4572000" cy="365760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102A43"/>
                </a:solidFill>
                <a:latin typeface="Aptos"/>
              </a:defRPr>
            </a:pPr>
            <a:r>
              <a:t>Below 0.30: routine-processing candidate</a:t>
            </a:r>
          </a:p>
          <a:p>
            <a:pPr>
              <a:spcAft>
                <a:spcPts val="1100"/>
              </a:spcAft>
              <a:defRPr sz="1500">
                <a:solidFill>
                  <a:srgbClr val="102A43"/>
                </a:solidFill>
                <a:latin typeface="Aptos"/>
              </a:defRPr>
            </a:pPr>
            <a:r>
              <a:t>0.30 to operating threshold: manual-review candidate</a:t>
            </a:r>
          </a:p>
          <a:p>
            <a:pPr>
              <a:spcAft>
                <a:spcPts val="1100"/>
              </a:spcAft>
              <a:defRPr sz="1500">
                <a:solidFill>
                  <a:srgbClr val="102A43"/>
                </a:solidFill>
                <a:latin typeface="Aptos"/>
              </a:defRPr>
            </a:pPr>
            <a:r>
              <a:t>At/above threshold: priority investigation</a:t>
            </a:r>
          </a:p>
          <a:p>
            <a:pPr>
              <a:spcAft>
                <a:spcPts val="1100"/>
              </a:spcAft>
              <a:defRPr sz="1500">
                <a:solidFill>
                  <a:srgbClr val="102A43"/>
                </a:solidFill>
                <a:latin typeface="Aptos"/>
              </a:defRPr>
            </a:pPr>
            <a:r>
              <a:t>Threshold chosen on validation data by F2</a:t>
            </a:r>
          </a:p>
          <a:p>
            <a:pPr>
              <a:spcAft>
                <a:spcPts val="1100"/>
              </a:spcAft>
              <a:defRPr sz="1500">
                <a:solidFill>
                  <a:srgbClr val="102A43"/>
                </a:solidFill>
                <a:latin typeface="Aptos"/>
              </a:defRPr>
            </a:pPr>
            <a:r>
              <a:t>Business owners may recalibrate after capacity and cost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43891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Model comparison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32104"/>
            <a:ext cx="9144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789920" cy="2560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486581"/>
                </a:solidFill>
                <a:latin typeface="Aptos"/>
              </a:rPr>
              <a:t>PR curves foreground the minority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0">
                <a:solidFill>
                  <a:srgbClr val="486581"/>
                </a:solidFill>
                <a:latin typeface="Aptos"/>
              </a:rPr>
              <a:t>IIIT Dharwad • Traditional ML baseline • Prof. Ramesh Athe</a:t>
            </a:r>
          </a:p>
        </p:txBody>
      </p:sp>
      <p:pic>
        <p:nvPicPr>
          <p:cNvPr id="6" name="Picture 5" descr="pr_curves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420" y="1143000"/>
            <a:ext cx="9550678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43891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Explainability pack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32104"/>
            <a:ext cx="9144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789920" cy="2560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486581"/>
                </a:solidFill>
                <a:latin typeface="Aptos"/>
              </a:rPr>
              <a:t>Global importance plus neutral claim-level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0">
                <a:solidFill>
                  <a:srgbClr val="486581"/>
                </a:solidFill>
                <a:latin typeface="Aptos"/>
              </a:rPr>
              <a:t>IIIT Dharwad • Traditional ML baseline • Prof. Ramesh Athe</a:t>
            </a:r>
          </a:p>
        </p:txBody>
      </p:sp>
      <p:pic>
        <p:nvPicPr>
          <p:cNvPr id="6" name="Picture 5" descr="feature_importance_permu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7558"/>
            <a:ext cx="5669280" cy="43858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1325880"/>
            <a:ext cx="5029200" cy="438912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102A43"/>
                </a:solidFill>
                <a:latin typeface="Aptos"/>
              </a:defRPr>
            </a:pPr>
            <a:r>
              <a:t>Permutation importance measures validation PR-AUC drop</a:t>
            </a:r>
          </a:p>
          <a:p>
            <a:pPr>
              <a:spcAft>
                <a:spcPts val="1100"/>
              </a:spcAft>
              <a:defRPr sz="1500">
                <a:solidFill>
                  <a:srgbClr val="102A43"/>
                </a:solidFill>
                <a:latin typeface="Aptos"/>
              </a:defRPr>
            </a:pPr>
            <a:r>
              <a:t>Positive importance is association, not causation</a:t>
            </a:r>
          </a:p>
          <a:p>
            <a:pPr>
              <a:spcAft>
                <a:spcPts val="1100"/>
              </a:spcAft>
              <a:defRPr sz="1500">
                <a:solidFill>
                  <a:srgbClr val="102A43"/>
                </a:solidFill>
                <a:latin typeface="Aptos"/>
              </a:defRPr>
            </a:pPr>
            <a:r>
              <a:t>Local reasons use evidence-led, non-accusatory wording</a:t>
            </a:r>
          </a:p>
          <a:p>
            <a:pPr>
              <a:spcAft>
                <a:spcPts val="1100"/>
              </a:spcAft>
              <a:defRPr sz="1500">
                <a:solidFill>
                  <a:srgbClr val="102A43"/>
                </a:solidFill>
                <a:latin typeface="Aptos"/>
              </a:defRPr>
            </a:pPr>
            <a:r>
              <a:t>A claimant receives next steps, not an accusation</a:t>
            </a:r>
          </a:p>
          <a:p>
            <a:pPr>
              <a:spcAft>
                <a:spcPts val="1100"/>
              </a:spcAft>
              <a:defRPr sz="1500">
                <a:solidFill>
                  <a:srgbClr val="102A43"/>
                </a:solidFill>
                <a:latin typeface="Aptos"/>
              </a:defRPr>
            </a:pPr>
            <a:r>
              <a:t>SHAP/counterfactuals are a planned extension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43891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Fairness audit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32104"/>
            <a:ext cx="9144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789920" cy="2560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486581"/>
                </a:solidFill>
                <a:latin typeface="Aptos"/>
              </a:rPr>
              <a:t>Sensitive fields are audited, not used as identifiers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0">
                <a:solidFill>
                  <a:srgbClr val="486581"/>
                </a:solidFill>
                <a:latin typeface="Aptos"/>
              </a:rPr>
              <a:t>IIIT Dharwad • Traditional ML baseline • Prof. Ramesh Athe</a:t>
            </a:r>
          </a:p>
        </p:txBody>
      </p:sp>
      <p:pic>
        <p:nvPicPr>
          <p:cNvPr id="6" name="Picture 5" descr="fairness_audit_healthc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99984"/>
            <a:ext cx="5120640" cy="28580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0" y="1371600"/>
            <a:ext cx="5029200" cy="411480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102A43"/>
                </a:solidFill>
                <a:latin typeface="Aptos"/>
              </a:defRPr>
            </a:pPr>
            <a:r>
              <a:t>Slices: gender, age band, claim type, employment</a:t>
            </a:r>
          </a:p>
          <a:p>
            <a:pPr>
              <a:spcAft>
                <a:spcPts val="1100"/>
              </a:spcAft>
              <a:defRPr sz="1600">
                <a:solidFill>
                  <a:srgbClr val="102A43"/>
                </a:solidFill>
                <a:latin typeface="Aptos"/>
              </a:defRPr>
            </a:pPr>
            <a:r>
              <a:t>Metrics: recall/TPR, FPR, precision, accuracy</a:t>
            </a:r>
          </a:p>
          <a:p>
            <a:pPr>
              <a:spcAft>
                <a:spcPts val="1100"/>
              </a:spcAft>
              <a:defRPr sz="1600">
                <a:solidFill>
                  <a:srgbClr val="102A43"/>
                </a:solidFill>
                <a:latin typeface="Aptos"/>
              </a:defRPr>
            </a:pPr>
            <a:r>
              <a:t>Small cells are marked unstable</a:t>
            </a:r>
          </a:p>
          <a:p>
            <a:pPr>
              <a:spcAft>
                <a:spcPts val="1100"/>
              </a:spcAft>
              <a:defRPr sz="1600">
                <a:solidFill>
                  <a:srgbClr val="102A43"/>
                </a:solidFill>
                <a:latin typeface="Aptos"/>
              </a:defRPr>
            </a:pPr>
            <a:r>
              <a:t>A gap triggers investigation; it is not a causal finding</a:t>
            </a:r>
          </a:p>
          <a:p>
            <a:pPr>
              <a:spcAft>
                <a:spcPts val="1100"/>
              </a:spcAft>
              <a:defRPr sz="1600">
                <a:solidFill>
                  <a:srgbClr val="102A43"/>
                </a:solidFill>
                <a:latin typeface="Aptos"/>
              </a:defRPr>
            </a:pPr>
            <a:r>
              <a:t>The supplied workbook is not population-representative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43891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Error costs and review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32104"/>
            <a:ext cx="9144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789920" cy="2560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486581"/>
                </a:solidFill>
                <a:latin typeface="Aptos"/>
              </a:rPr>
              <a:t>The model is a triage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0">
                <a:solidFill>
                  <a:srgbClr val="486581"/>
                </a:solidFill>
                <a:latin typeface="Aptos"/>
              </a:rPr>
              <a:t>IIIT Dharwad • Traditional ML baseline • Prof. Ramesh Athe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789920" cy="4480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False negatives: fraud can be approved and paid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False positives: genuine claims can be delayed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Review queue should show probability, reason codes, and evidence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Policy and medical documentation remain the source of truth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Appeal and grievance channels must stay visible to claimants</a:t>
            </a:r>
          </a:p>
        </p:txBody>
      </p:sp>
      <p:pic>
        <p:nvPicPr>
          <p:cNvPr id="7" name="Picture 6" descr="explainable_claim_tri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70213"/>
            <a:ext cx="4572000" cy="255181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43891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Limitations and next research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32104"/>
            <a:ext cx="9144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789920" cy="2560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486581"/>
                </a:solidFill>
                <a:latin typeface="Aptos"/>
              </a:rPr>
              <a:t>A strong baseline is honest about what it cannot 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0">
                <a:solidFill>
                  <a:srgbClr val="486581"/>
                </a:solidFill>
                <a:latin typeface="Aptos"/>
              </a:rPr>
              <a:t>IIIT Dharwad • Traditional ML baseline • Prof. Ramesh Athe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789920" cy="4480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Only 4,500 supplied rows; no external validation split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No policy clauses, sum insured, hospital tier, or document images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Near-unique codes and cluster structure may be synthetic shortcuts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No current claim history aggregation because one row is unique per entity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Next: license-cleared Indian claims, temporal holdout, document/agent approach, deep tabular approach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43891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Submission-ready artifact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32104"/>
            <a:ext cx="9144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789920" cy="2560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486581"/>
                </a:solidFill>
                <a:latin typeface="Aptos"/>
              </a:rPr>
              <a:t>Everything is generated from one run identifier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0">
                <a:solidFill>
                  <a:srgbClr val="486581"/>
                </a:solidFill>
                <a:latin typeface="Aptos"/>
              </a:rPr>
              <a:t>IIIT Dharwad • Traditional ML baseline • Prof. Ramesh Athe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789920" cy="4480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Code: `src/` and `scripts/run_pipeline.py`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Data: `data/raw/`, data card, dictionary, checksum manifest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Evaluation: leaderboard CSV, per-model JSON/curves, fairness, calibration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Images: EDA, curves, confusion matrices, concept illustrations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Documents: 20-slide PPTX, project report PDF, IEEE paper PDF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Reproduce: `python scripts/run_pipeline.py --config config/default.yaml`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17320"/>
            <a:ext cx="10332720" cy="7315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23160"/>
            <a:ext cx="10332720" cy="685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300" b="0">
                <a:solidFill>
                  <a:srgbClr val="E9C46A"/>
                </a:solidFill>
                <a:latin typeface="Aptos"/>
              </a:rPr>
              <a:t>Questions and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840480"/>
            <a:ext cx="9875520" cy="10058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  <a:latin typeface="Aptos"/>
              </a:rPr>
              <a:t>B Varshith  •  M Jagadeshwar  •  J Ganesh
Faculty Adviser: Prof. Ramesh Athe
IIIT Dharwad • Department of Data Science and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989320"/>
            <a:ext cx="996696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900" b="0">
                <a:solidFill>
                  <a:srgbClr val="BED2E1"/>
                </a:solidFill>
                <a:latin typeface="Aptos"/>
              </a:rPr>
              <a:t>References: documentation/references.md • Evidence run: run_20260807_151423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