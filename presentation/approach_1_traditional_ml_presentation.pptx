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Medical Insurance Claim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Approach 1: Explainable Traditional Machine Learning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10515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AI-Driven Claim Verification &amp; Responsible Fraud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IIIT Dharwad — Department of Data Science and AI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Faculty Adviser: Ramesh Athe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B Varshith (23BDS011) | M Jagadeshwar (23BDS033) | J Ganesh (23BDS024)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Academic mini-project | 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Fraud screening must protect genuine policyholders without automated adverse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Medical claims can involve inflated bills, duplicate episodes, timing manipulation and inconsistent documents.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Indian context matters: family floater/group covers, Ayushman Bharat/ECHS, allopathic and Ayurvedic care, GST and regional cost variation.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Goal: classify historic tabular claims as high-risk or legitimate, then route high-risk cases to human evidence review.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A score is not a denial: policy eligibility and due process remain human responsibilities.</a:t>
            </a:r>
          </a:p>
        </p:txBody>
      </p:sp>
      <p:pic>
        <p:nvPicPr>
          <p:cNvPr id="8" name="Picture 7" descr="amount_vs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Objectives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What this baseline does—and does not—claim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Benchmark diverse classical models with recall-weighted F2 selection.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Build leakage-aware preprocessing and interpretable feature evidence.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Audit subgroup error rates, calibration, INR-oriented screening costs and computational cost.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Use a transparent synthetic fallback because the bundled file is not adequate Indian claim data.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Not a production settlement engine or estimate of real insurer fraud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Dataset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Preserve the supplied workbook; do not misrepresent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Supplied workbook: 4,500 records (below the ≥10,000 adequacy threshold).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Adequacy review: generic locations and missing Indian policy/history fields.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Fallback: deterministic Indian-context synthetic claims in INR, labelled for educational benchmarking.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Raw reference remains untouched with checksum and metadata.</a:t>
            </a:r>
          </a:p>
        </p:txBody>
      </p:sp>
      <p:pic>
        <p:nvPicPr>
          <p:cNvPr id="8" name="Picture 7" descr="class_and_claim_typ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46634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Synthetic Population and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Same frozen split supports fair later ML-vs-DL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After exact duplicate removal: 12,000 claims.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Stratified train/validation/test: 8,400 / 1,800 / 1,800.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Features: demographic context, policy terms, claim/provider details, temporal history and regional treatment baseline.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Fraud rate is synthetic; values cannot be generalized to an insurer.</a:t>
            </a:r>
          </a:p>
        </p:txBody>
      </p:sp>
      <p:pic>
        <p:nvPicPr>
          <p:cNvPr id="8" name="Picture 7" descr="claim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212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Right-skewed INR costs and regional/treatment heterogeneity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6</a:t>
            </a:r>
          </a:p>
        </p:txBody>
      </p:sp>
      <p:pic>
        <p:nvPicPr>
          <p:cNvPr id="7" name="Picture 6" descr="numeric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86400" cy="4434840"/>
          </a:xfrm>
          <a:prstGeom prst="rect">
            <a:avLst/>
          </a:prstGeom>
        </p:spPr>
      </p:pic>
      <p:pic>
        <p:nvPicPr>
          <p:cNvPr id="8" name="Picture 7" descr="fraud_rate_state_treatmen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1663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Leakage-Aware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All learned transforms fit on training data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7</a:t>
            </a:r>
          </a:p>
        </p:txBody>
      </p:sp>
      <p:pic>
        <p:nvPicPr>
          <p:cNvPr id="7" name="Picture 6" descr="traditional_ml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0704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520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Exact duplicate removal; missingness audit; plausible outliers retained as potential signal.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Median/mode imputation, robust scaling, one-hot low-cardinality encoding and smoothed target encoding for high-cardinality features.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Mutual-information selection: 162 transformed inputs → 60 selected inputs.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Validation chooses threshold; held-out test is evaluated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Domain knowledge expressed as auditable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Claim-to-premium and claim-to-sum-insured ratios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Regional treatment-cost deviation and amount per hospital day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Days relative to waiting-period end and claim-frequency intensity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Current-to-history amount ratio; provider-risk × distance interaction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Limited squared amount/stay terms—no uncontrolled feature explosion</a:t>
            </a:r>
          </a:p>
        </p:txBody>
      </p:sp>
      <p:pic>
        <p:nvPicPr>
          <p:cNvPr id="8" name="Picture 7" descr="correlat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846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Model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Thirteen+ classical classifiers under one F2-first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Linear: L1/L2 Logistic Regression; QDA; Gaussian and Multinomial Naive Bayes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Trees/ensembles: Decision Tree, Random Forest, Histogram GB, AdaBoost, XGBoost, LightGBM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Geometry: Linear/RBF SVM and KNN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Bridge model: shallow neural network with Adam/early stopping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5-fold stratified CV; grid search for small spaces and random search for broader tree/NN 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Class-Imbalance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Recall is important, but must be balanced against false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Compared: class-weighted learning, random undersampling, Tomek links, SMOTE and SMOTEENN.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Sampling is fit only on train data. Validation determines F2 threshold.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The full benchmark uses consistent class-aware settings; results disclose precision, recall, PR-AUC, MCC and INR proxy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4480560" cy="521207"/>
          </a:xfrm>
          <a:prstGeom prst="roundRect">
            <a:avLst/>
          </a:prstGeom>
          <a:solidFill>
            <a:srgbClr val="EBF2F7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random_under: validation F2=0.970, recall=0.974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480560" cy="521207"/>
          </a:xfrm>
          <a:prstGeom prst="roundRect">
            <a:avLst/>
          </a:prstGeom>
          <a:solidFill>
            <a:srgbClr val="EBF2F7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tomek: validation F2=0.970, recall=0.970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97480"/>
            <a:ext cx="4480560" cy="521207"/>
          </a:xfrm>
          <a:prstGeom prst="roundRect">
            <a:avLst/>
          </a:prstGeom>
          <a:solidFill>
            <a:srgbClr val="EBF2F7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class_weight: validation F2=0.964, recall=0.963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83280"/>
            <a:ext cx="4480560" cy="521207"/>
          </a:xfrm>
          <a:prstGeom prst="roundRect">
            <a:avLst/>
          </a:prstGeom>
          <a:solidFill>
            <a:srgbClr val="EBF2F7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smote: validation F2=0.962, recall=0.970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69080"/>
            <a:ext cx="4480560" cy="521207"/>
          </a:xfrm>
          <a:prstGeom prst="roundRect">
            <a:avLst/>
          </a:prstGeom>
          <a:solidFill>
            <a:srgbClr val="EBF2F7"/>
          </a:solidFill>
          <a:ln>
            <a:solidFill>
              <a:srgbClr val="B4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smoteenn: validation F2=0.962, recall=0.970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Why F2, PR-AUC, costs and paired tests are all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F2 is primary: false negatives receive greater weight because missed suspicious claims can be costly.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PR-AUC complements ROC-AUC when fraud is minority class; MCC remains informative under imbalance.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Threshold scans run on validation only—not default 0.50.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McNemar exact test compares same-test predictions; Wilcoxon compares CV folds.</a:t>
            </a:r>
          </a:p>
          <a:p>
            <a:pPr>
              <a:spcAft>
                <a:spcPts val="1000"/>
              </a:spcAft>
              <a:defRPr sz="1700">
                <a:solidFill>
                  <a:srgbClr val="23303D"/>
                </a:solidFill>
              </a:defRPr>
            </a:pPr>
            <a:r>
              <a:t>Costs are illustrative: missed synthetic fraud amount + ₹3,500 review/friction per false flag.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Held-out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Ranked by F2, then ROC-AUC; test set untouched until final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12</a:t>
            </a:r>
          </a:p>
        </p:txBody>
      </p:sp>
      <p:pic>
        <p:nvPicPr>
          <p:cNvPr id="7" name="Picture 6" descr="grouped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0972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ROC and PR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PR curves reveal positive-class performance under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13</a:t>
            </a:r>
          </a:p>
        </p:txBody>
      </p:sp>
      <p:pic>
        <p:nvPicPr>
          <p:cNvPr id="7" name="Picture 6" descr="roc_curv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623560" cy="4846320"/>
          </a:xfrm>
          <a:prstGeom prst="rect">
            <a:avLst/>
          </a:prstGeom>
        </p:spPr>
      </p:pic>
      <p:pic>
        <p:nvPicPr>
          <p:cNvPr id="8" name="Picture 7" descr="precision_recall_curves_all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5321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Best-Performer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Held-out leader: XGBoost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F2 = 0.988; Recall = 0.993; Precision = 0.971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ROC-AUC = 1.000; PR-AUC = 0.999; MCC = 0.978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Validation-selected threshold = 0.295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Training/tuning = 4.79s; latency = 0.0025 ms/claim</a:t>
            </a:r>
          </a:p>
          <a:p>
            <a:pPr>
              <a:spcAft>
                <a:spcPts val="1000"/>
              </a:spcAft>
              <a:defRPr sz="1800">
                <a:solidFill>
                  <a:srgbClr val="23303D"/>
                </a:solidFill>
              </a:defRPr>
            </a:pPr>
            <a:r>
              <a:t>This result describes the synthetic test set only.</a:t>
            </a:r>
          </a:p>
        </p:txBody>
      </p:sp>
      <p:pic>
        <p:nvPicPr>
          <p:cNvPr id="8" name="Picture 7" descr="top_f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48463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Computational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Operational choice needs more than a single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15</a:t>
            </a:r>
          </a:p>
        </p:txBody>
      </p:sp>
      <p:pic>
        <p:nvPicPr>
          <p:cNvPr id="7" name="Picture 6" descr="training_time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760720" cy="4297680"/>
          </a:xfrm>
          <a:prstGeom prst="rect">
            <a:avLst/>
          </a:prstGeom>
        </p:spPr>
      </p:pic>
      <p:pic>
        <p:nvPicPr>
          <p:cNvPr id="8" name="Picture 7" descr="confusion_matrices_all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234440"/>
            <a:ext cx="4800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Model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Associations guide review; they do not prove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16</a:t>
            </a:r>
          </a:p>
        </p:txBody>
      </p:sp>
      <p:pic>
        <p:nvPicPr>
          <p:cNvPr id="7" name="Picture 6" descr="feature_importance_ada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806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3716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Coefficients/rules/tree importances identify inputs associated with synthetic risk.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A claimant-facing explanation must cite verifiable documents/policy clauses, not merely a model feature.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High-risk recommendation → human investigator verifies billing, coverage and clinical evidence.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No demographic attribute should be an adverse-decision reason.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Fairness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Audit outcomes across groups; investigate disparities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17</a:t>
            </a:r>
          </a:p>
        </p:txBody>
      </p:sp>
      <p:pic>
        <p:nvPicPr>
          <p:cNvPr id="7" name="Picture 6" descr="fairness_fnr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577840" cy="4297680"/>
          </a:xfrm>
          <a:prstGeom prst="rect">
            <a:avLst/>
          </a:prstGeom>
        </p:spPr>
      </p:pic>
      <p:pic>
        <p:nvPicPr>
          <p:cNvPr id="8" name="Picture 7" descr="calibration_reliabil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4846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Strengths, Limitations and Approach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Responsible interpretation of an academic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Strengths: reproducibility, Indian-context assumptions, broad model suite, threshold/cost/fairness evidence and explainability assets.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Limits: labels and mechanisms are synthetic; random claim split can retain correlated entities; provider history is a proxy.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Approach 2 will test learned embeddings/temporal neural representations on this frozen split; Approach 3 will add document/RAG evidence and human checkpoints.</a:t>
            </a:r>
          </a:p>
          <a:p>
            <a:pPr>
              <a:spcAft>
                <a:spcPts val="1000"/>
              </a:spcAft>
              <a:defRPr sz="1600">
                <a:solidFill>
                  <a:srgbClr val="23303D"/>
                </a:solidFill>
              </a:defRPr>
            </a:pPr>
            <a:r>
              <a:t>No model output may automatically reject a person’s claim; production needs governed data, validation, privacy/security, monitoring, appeal and human accountability.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Conclusion, Future Work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Key takeaways and reproducibility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</a:defRPr>
            </a:pPr>
            <a:r>
              <a:t>15 models were evaluated under a consistent, F2-led synthetic protocol; the leader is XGBoost (F2 0.988).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</a:defRPr>
            </a:pPr>
            <a:r>
              <a:t>Validation-selected thresholds and INR proxy cost expose operational trade-offs; fairness/calibration/interpretability are required alongside discrimination metrics.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</a:defRPr>
            </a:pPr>
            <a:r>
              <a:t>Next: entity-disjoint and temporal validation, insurer-approved labels, policy-specific coverage rules, Approach-2 neural tests and Approach-3 evidence-grounded review.</a:t>
            </a:r>
          </a:p>
          <a:p>
            <a:pPr>
              <a:spcAft>
                <a:spcPts val="1000"/>
              </a:spcAft>
              <a:defRPr sz="1500">
                <a:solidFill>
                  <a:srgbClr val="23303D"/>
                </a:solidFill>
              </a:defRPr>
            </a:pPr>
            <a:r>
              <a:t>References include Phua et al. (2010), Joudaki et al. (2015), Chawla et al. (2002), Chen &amp; Guestrin (2016), Ke et al. (2017), Lundberg &amp; Lee (2017), Hardt et al. (2016) and IRDAI (2024). Full list in documentation.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Questions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65392"/>
            <a:ext cx="11338560" cy="45720"/>
          </a:xfrm>
          <a:prstGeom prst="rect">
            <a:avLst/>
          </a:prstGeom>
          <a:solidFill>
            <a:srgbClr val="C7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61111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IIIT Dharwad | Medical Insurance Claim Fraud Detection | Approach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611112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303D"/>
                </a:solidFill>
              </a:defRPr>
            </a:pPr>
            <a:r>
              <a:t>Medical Insurance Claim Fraud Detection</a:t>
            </a:r>
          </a:p>
          <a:p>
            <a:pPr>
              <a:spcAft>
                <a:spcPts val="1000"/>
              </a:spcAft>
              <a:defRPr sz="2200">
                <a:solidFill>
                  <a:srgbClr val="23303D"/>
                </a:solidFill>
              </a:defRPr>
            </a:pPr>
            <a:r>
              <a:t>IIIT Dharwad — Department of Data Science and AI</a:t>
            </a:r>
          </a:p>
          <a:p>
            <a:pPr>
              <a:spcAft>
                <a:spcPts val="1000"/>
              </a:spcAft>
              <a:defRPr sz="2200">
                <a:solidFill>
                  <a:srgbClr val="23303D"/>
                </a:solidFill>
              </a:defRPr>
            </a:pPr>
            <a:r>
              <a:t>Faculty Adviser: Ramesh Athe</a:t>
            </a:r>
          </a:p>
          <a:p>
            <a:pPr>
              <a:spcAft>
                <a:spcPts val="1000"/>
              </a:spcAft>
              <a:defRPr sz="2200">
                <a:solidFill>
                  <a:srgbClr val="23303D"/>
                </a:solidFill>
              </a:defRPr>
            </a:pPr>
            <a:r>
              <a:t>Team: B Varshith | M Jagadeshwar | J Ganesh</a:t>
            </a:r>
          </a:p>
          <a:p>
            <a:pPr>
              <a:spcAft>
                <a:spcPts val="1000"/>
              </a:spcAft>
              <a:defRPr sz="2200">
                <a:solidFill>
                  <a:srgbClr val="23303D"/>
                </a:solidFill>
              </a:defRPr>
            </a:pPr>
            <a:r>
              <a:t>Contact: project team via IIIT Dharwad academic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